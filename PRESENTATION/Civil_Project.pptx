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1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40410"/>
            <a:ext cx="10813067" cy="78383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600" dirty="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998185"/>
            <a:ext cx="10813067" cy="54150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69E8996-63F9-282F-EB89-823A9E405F9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2974" y="1606318"/>
            <a:ext cx="11268845" cy="479145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FC4771-5A22-2E68-AB04-0949D0A15B66}"/>
              </a:ext>
            </a:extLst>
          </p:cNvPr>
          <p:cNvCxnSpPr>
            <a:cxnSpLocks/>
          </p:cNvCxnSpPr>
          <p:nvPr/>
        </p:nvCxnSpPr>
        <p:spPr>
          <a:xfrm flipH="1">
            <a:off x="0" y="159971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AA95C5A-6D75-9E1D-C459-7F2022E84F55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0ED5AC1-9F96-A868-7F45-523BF1A45E7C}"/>
              </a:ext>
            </a:extLst>
          </p:cNvPr>
          <p:cNvCxnSpPr>
            <a:cxnSpLocks/>
          </p:cNvCxnSpPr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0E1F764-5B01-7711-9CF1-7EA13A629701}"/>
              </a:ext>
            </a:extLst>
          </p:cNvPr>
          <p:cNvCxnSpPr>
            <a:cxnSpLocks/>
          </p:cNvCxnSpPr>
          <p:nvPr/>
        </p:nvCxnSpPr>
        <p:spPr>
          <a:xfrm flipH="1">
            <a:off x="0" y="6396171"/>
            <a:ext cx="12192000" cy="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15687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360221"/>
            <a:ext cx="10515600" cy="13304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004291"/>
            <a:ext cx="10515600" cy="41726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58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76D044F-5574-D6D7-2A47-5069E411C22F}"/>
              </a:ext>
            </a:extLst>
          </p:cNvPr>
          <p:cNvCxnSpPr>
            <a:cxnSpLocks/>
          </p:cNvCxnSpPr>
          <p:nvPr/>
        </p:nvCxnSpPr>
        <p:spPr>
          <a:xfrm flipH="1">
            <a:off x="0" y="1825625"/>
            <a:ext cx="12210293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7002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72445" y="1480212"/>
            <a:ext cx="3849131" cy="2871351"/>
          </a:xfrm>
        </p:spPr>
        <p:txBody>
          <a:bodyPr anchor="ctr">
            <a:normAutofit/>
          </a:bodyPr>
          <a:lstStyle>
            <a:lvl1pPr algn="ctr">
              <a:defRPr sz="360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46" y="5410440"/>
            <a:ext cx="3849128" cy="106820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69E8996-63F9-282F-EB89-823A9E405F9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204414" cy="6859634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429501" y="6445997"/>
            <a:ext cx="295546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26650" y="6445997"/>
            <a:ext cx="1353059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8BE003B-9AA9-5AAB-16A3-CC8CD5997AAA}"/>
              </a:ext>
            </a:extLst>
          </p:cNvPr>
          <p:cNvCxnSpPr>
            <a:cxnSpLocks/>
          </p:cNvCxnSpPr>
          <p:nvPr/>
        </p:nvCxnSpPr>
        <p:spPr>
          <a:xfrm flipH="1">
            <a:off x="7206802" y="5031087"/>
            <a:ext cx="4985198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0CBC2A1-BC50-27CD-C764-435FA7A59ABD}"/>
              </a:ext>
            </a:extLst>
          </p:cNvPr>
          <p:cNvCxnSpPr>
            <a:cxnSpLocks/>
          </p:cNvCxnSpPr>
          <p:nvPr/>
        </p:nvCxnSpPr>
        <p:spPr>
          <a:xfrm>
            <a:off x="7206802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22776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6222" y="1246912"/>
            <a:ext cx="8919556" cy="3050766"/>
          </a:xfrm>
        </p:spPr>
        <p:txBody>
          <a:bodyPr anchor="ctr">
            <a:normAutofit/>
          </a:bodyPr>
          <a:lstStyle>
            <a:lvl1pPr algn="ctr">
              <a:defRPr sz="540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51378" y="5345199"/>
            <a:ext cx="7289245" cy="118403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7C4A186-7A3C-2849-F4A7-5B5565EB29E6}"/>
              </a:ext>
            </a:extLst>
          </p:cNvPr>
          <p:cNvCxnSpPr>
            <a:cxnSpLocks/>
          </p:cNvCxnSpPr>
          <p:nvPr/>
        </p:nvCxnSpPr>
        <p:spPr>
          <a:xfrm flipH="1">
            <a:off x="0" y="5016433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0C7E87E-EC44-47F9-6172-5EEA03DE5D87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8077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2D6AD5-6168-B411-89A9-90C82303B25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EC6DA0-2CB8-AFC5-DB06-AB9235983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38087"/>
            <a:ext cx="8932653" cy="331254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cap="all" baseline="0">
                <a:solidFill>
                  <a:schemeClr val="tx2">
                    <a:alpha val="5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E16A9F-28B9-2207-66D3-D952EB7EC8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-789870"/>
            <a:ext cx="10515600" cy="638352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3F77F-C41D-1011-B9F4-A5DE814F4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751081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8CD507-925C-84B3-8F49-9F3B91209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13B4AE-32E8-CAFF-4A3C-6CBE4FFFA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BFA0DE8-9E4B-D747-CB64-14B8DEDC02EA}"/>
              </a:ext>
            </a:extLst>
          </p:cNvPr>
          <p:cNvCxnSpPr>
            <a:cxnSpLocks/>
          </p:cNvCxnSpPr>
          <p:nvPr/>
        </p:nvCxnSpPr>
        <p:spPr>
          <a:xfrm flipH="1">
            <a:off x="0" y="1367580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EB75EB-F27E-271A-C843-4096E1F19057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74849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2D18C4-A1A8-6CA4-B4A2-0E9791DC7F7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63362"/>
            <a:ext cx="11122507" cy="1162632"/>
          </a:xfrm>
        </p:spPr>
        <p:txBody>
          <a:bodyPr anchor="ctr">
            <a:normAutofit/>
          </a:bodyPr>
          <a:lstStyle>
            <a:lvl1pPr>
              <a:defRPr sz="72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79085" y="2249592"/>
            <a:ext cx="6100623" cy="3787062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>
                <a:solidFill>
                  <a:schemeClr val="tx2"/>
                </a:solidFill>
              </a:defRPr>
            </a:lvl1pPr>
            <a:lvl2pPr marL="571500" indent="-342900">
              <a:buFont typeface="+mj-lt"/>
              <a:buAutoNum type="arabicPeriod"/>
              <a:defRPr lang="en-US" sz="1800" dirty="0">
                <a:solidFill>
                  <a:schemeClr val="tx2"/>
                </a:solidFill>
              </a:defRPr>
            </a:lvl2pPr>
            <a:lvl3pPr marL="800100" indent="-342900">
              <a:buFont typeface="+mj-lt"/>
              <a:buAutoNum type="arabicPeriod"/>
              <a:defRPr lang="en-US" sz="1600" dirty="0">
                <a:solidFill>
                  <a:schemeClr val="tx2"/>
                </a:solidFill>
              </a:defRPr>
            </a:lvl3pPr>
            <a:lvl4pPr marL="10287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4pPr>
            <a:lvl5pPr marL="12573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6406B2-3637-5849-867E-A0ADC9D9DDA5}"/>
              </a:ext>
            </a:extLst>
          </p:cNvPr>
          <p:cNvCxnSpPr>
            <a:cxnSpLocks/>
          </p:cNvCxnSpPr>
          <p:nvPr/>
        </p:nvCxnSpPr>
        <p:spPr>
          <a:xfrm flipH="1">
            <a:off x="0" y="1822345"/>
            <a:ext cx="121920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0E47964-42E3-09B6-4B3F-96D1060D072B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80101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0D0A563-F018-FFF1-B911-D69E42CEEA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63362"/>
            <a:ext cx="11130279" cy="1162632"/>
          </a:xfrm>
        </p:spPr>
        <p:txBody>
          <a:bodyPr anchor="ctr">
            <a:normAutofit/>
          </a:bodyPr>
          <a:lstStyle>
            <a:lvl1pPr>
              <a:defRPr sz="72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DA2B1BE-7DDF-C8B4-6A46-21B5A0257D0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8364" y="1830708"/>
            <a:ext cx="5321063" cy="456392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46552" y="2191025"/>
            <a:ext cx="5733156" cy="3894807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>
                <a:solidFill>
                  <a:schemeClr val="tx2"/>
                </a:solidFill>
              </a:defRPr>
            </a:lvl1pPr>
            <a:lvl2pPr marL="571500" indent="-342900">
              <a:buFont typeface="+mj-lt"/>
              <a:buAutoNum type="arabicPeriod"/>
              <a:defRPr lang="en-US" sz="1800" dirty="0">
                <a:solidFill>
                  <a:schemeClr val="tx2"/>
                </a:solidFill>
              </a:defRPr>
            </a:lvl2pPr>
            <a:lvl3pPr marL="800100" indent="-342900">
              <a:buFont typeface="+mj-lt"/>
              <a:buAutoNum type="arabicPeriod"/>
              <a:defRPr lang="en-US" sz="1600" dirty="0">
                <a:solidFill>
                  <a:schemeClr val="tx2"/>
                </a:solidFill>
              </a:defRPr>
            </a:lvl3pPr>
            <a:lvl4pPr marL="10287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4pPr>
            <a:lvl5pPr marL="12573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6406B2-3637-5849-867E-A0ADC9D9DDA5}"/>
              </a:ext>
            </a:extLst>
          </p:cNvPr>
          <p:cNvCxnSpPr>
            <a:cxnSpLocks/>
          </p:cNvCxnSpPr>
          <p:nvPr/>
        </p:nvCxnSpPr>
        <p:spPr>
          <a:xfrm flipH="1">
            <a:off x="0" y="1822345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0E47964-42E3-09B6-4B3F-96D1060D072B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DD64E6-257D-65B2-D2A7-6A1002E1E580}"/>
              </a:ext>
            </a:extLst>
          </p:cNvPr>
          <p:cNvCxnSpPr>
            <a:cxnSpLocks/>
          </p:cNvCxnSpPr>
          <p:nvPr/>
        </p:nvCxnSpPr>
        <p:spPr>
          <a:xfrm>
            <a:off x="5321065" y="1822345"/>
            <a:ext cx="0" cy="5035655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07760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1299"/>
            <a:ext cx="3689927" cy="1486906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4515" y="2780147"/>
            <a:ext cx="6567049" cy="3359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F5C1EC-3A2D-2E51-65A6-6155B3776C4A}"/>
              </a:ext>
            </a:extLst>
          </p:cNvPr>
          <p:cNvCxnSpPr>
            <a:cxnSpLocks/>
          </p:cNvCxnSpPr>
          <p:nvPr/>
        </p:nvCxnSpPr>
        <p:spPr>
          <a:xfrm flipH="1">
            <a:off x="0" y="239797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797FEE4-9B7E-CE58-4AA3-EC6E3E1861F3}"/>
              </a:ext>
            </a:extLst>
          </p:cNvPr>
          <p:cNvCxnSpPr>
            <a:cxnSpLocks/>
          </p:cNvCxnSpPr>
          <p:nvPr/>
        </p:nvCxnSpPr>
        <p:spPr>
          <a:xfrm>
            <a:off x="4469245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0672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3360">
          <p15:clr>
            <a:srgbClr val="FBAE40"/>
          </p15:clr>
        </p15:guide>
        <p15:guide id="4" pos="2928">
          <p15:clr>
            <a:srgbClr val="FBAE40"/>
          </p15:clr>
        </p15:guide>
        <p15:guide id="5" pos="47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0473"/>
            <a:ext cx="3664107" cy="3864052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70349" y="720473"/>
            <a:ext cx="6309360" cy="5303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6AC6891-86BE-FF41-E94E-AB97BFFB2322}"/>
              </a:ext>
            </a:extLst>
          </p:cNvPr>
          <p:cNvCxnSpPr>
            <a:cxnSpLocks/>
          </p:cNvCxnSpPr>
          <p:nvPr/>
        </p:nvCxnSpPr>
        <p:spPr>
          <a:xfrm>
            <a:off x="4643464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51E503-5C8D-3CDA-5CC2-A56B4F2A6193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98032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1995" y="559483"/>
            <a:ext cx="6825541" cy="1009652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421943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1994" y="2083837"/>
            <a:ext cx="6825545" cy="4032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811448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423739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4425535" y="1810995"/>
            <a:ext cx="7750205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537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2644" y="669386"/>
            <a:ext cx="7231413" cy="10058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8994" y="-5468"/>
            <a:ext cx="4011836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72644" y="1812385"/>
            <a:ext cx="7231407" cy="44238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408011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009212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417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80728"/>
            <a:ext cx="7281067" cy="10058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23728"/>
            <a:ext cx="7281061" cy="44238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5489" y="-6369"/>
            <a:ext cx="3996512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8188287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7020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78485"/>
            <a:ext cx="6369370" cy="10058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21484"/>
            <a:ext cx="6360897" cy="42921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77100" y="-8466"/>
            <a:ext cx="4914895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7270008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7760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8145"/>
            <a:ext cx="4000497" cy="16797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272880"/>
            <a:ext cx="4000497" cy="37894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53323" y="0"/>
            <a:ext cx="7338676" cy="6396281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40005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9854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849331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40233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9922" y="458144"/>
            <a:ext cx="3909536" cy="14858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268396" cy="6396281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9922" y="2463789"/>
            <a:ext cx="3909534" cy="35610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9854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A67EAFE-BA64-2156-9780-AA400F6F3026}"/>
              </a:ext>
            </a:extLst>
          </p:cNvPr>
          <p:cNvCxnSpPr>
            <a:cxnSpLocks/>
          </p:cNvCxnSpPr>
          <p:nvPr/>
        </p:nvCxnSpPr>
        <p:spPr>
          <a:xfrm>
            <a:off x="7271347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54F2342-86AA-3EA4-EB3B-2DB8D68315E6}"/>
              </a:ext>
            </a:extLst>
          </p:cNvPr>
          <p:cNvCxnSpPr>
            <a:cxnSpLocks/>
          </p:cNvCxnSpPr>
          <p:nvPr/>
        </p:nvCxnSpPr>
        <p:spPr>
          <a:xfrm flipH="1">
            <a:off x="7227420" y="2212509"/>
            <a:ext cx="493532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2267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959530"/>
            <a:ext cx="3512409" cy="219986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B441162-7125-E1E0-1B82-FCC1AB84227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857" y="-1"/>
            <a:ext cx="12192000" cy="364897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3613" y="3959529"/>
            <a:ext cx="7011183" cy="23695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1" y="6445997"/>
            <a:ext cx="354329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FF81FBD-8D67-B5E4-E22E-74E98EF89F80}"/>
              </a:ext>
            </a:extLst>
          </p:cNvPr>
          <p:cNvCxnSpPr>
            <a:cxnSpLocks/>
          </p:cNvCxnSpPr>
          <p:nvPr/>
        </p:nvCxnSpPr>
        <p:spPr>
          <a:xfrm>
            <a:off x="4290210" y="3648976"/>
            <a:ext cx="0" cy="3209024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92870-1B48-2935-21E8-3BC6F474C661}"/>
              </a:ext>
            </a:extLst>
          </p:cNvPr>
          <p:cNvCxnSpPr>
            <a:cxnSpLocks/>
          </p:cNvCxnSpPr>
          <p:nvPr/>
        </p:nvCxnSpPr>
        <p:spPr>
          <a:xfrm flipH="1">
            <a:off x="-857" y="3654706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74765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77072"/>
            <a:ext cx="4958078" cy="122548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842182"/>
            <a:ext cx="5758172" cy="454645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142" y="377072"/>
            <a:ext cx="5558655" cy="57974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7362BC-3CD1-D6F5-CB9B-B2AAD7EAD176}"/>
              </a:ext>
            </a:extLst>
          </p:cNvPr>
          <p:cNvCxnSpPr>
            <a:cxnSpLocks/>
          </p:cNvCxnSpPr>
          <p:nvPr/>
        </p:nvCxnSpPr>
        <p:spPr>
          <a:xfrm>
            <a:off x="5758174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0" y="1842182"/>
            <a:ext cx="5758174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575178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407360"/>
            <a:ext cx="3543299" cy="173282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66598"/>
            <a:ext cx="4460008" cy="3601433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92635" y="788704"/>
            <a:ext cx="6730614" cy="53858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5433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0" y="4068031"/>
            <a:ext cx="4460008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7362BC-3CD1-D6F5-CB9B-B2AAD7EAD176}"/>
              </a:ext>
            </a:extLst>
          </p:cNvPr>
          <p:cNvCxnSpPr>
            <a:cxnSpLocks/>
          </p:cNvCxnSpPr>
          <p:nvPr/>
        </p:nvCxnSpPr>
        <p:spPr>
          <a:xfrm>
            <a:off x="4460008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0D58D1-F636-9620-582E-41FBB707092B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91340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91F6A87-CC7B-D4BD-1F6A-C3948971C39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8720" y="5264780"/>
            <a:ext cx="9811512" cy="1097280"/>
          </a:xfrm>
        </p:spPr>
        <p:txBody>
          <a:bodyPr vert="horz" lIns="91440" tIns="45720" rIns="91440" bIns="45720" rtlCol="0" anchor="ctr">
            <a:normAutofit/>
          </a:bodyPr>
          <a:lstStyle>
            <a:lvl1pPr algn="ctr">
              <a:lnSpc>
                <a:spcPct val="110000"/>
              </a:lnSpc>
              <a:defRPr lang="en-US" sz="2800" cap="all" spc="100" baseline="0" dirty="0">
                <a:solidFill>
                  <a:schemeClr val="tx2">
                    <a:lumMod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3776" y="676656"/>
            <a:ext cx="11201400" cy="420624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n-US" sz="27800" dirty="0">
                <a:solidFill>
                  <a:schemeClr val="tx2">
                    <a:lumMod val="9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ADE133-B5D6-A1C0-6BC9-C723D008EC0E}"/>
              </a:ext>
            </a:extLst>
          </p:cNvPr>
          <p:cNvCxnSpPr>
            <a:cxnSpLocks/>
          </p:cNvCxnSpPr>
          <p:nvPr/>
        </p:nvCxnSpPr>
        <p:spPr>
          <a:xfrm flipH="1">
            <a:off x="0" y="501866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61138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FB4D75-C478-D736-9A5A-B64DEA24103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93103" y="1493520"/>
            <a:ext cx="8805794" cy="3911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sz="5400" b="0">
                <a:solidFill>
                  <a:schemeClr val="tx2"/>
                </a:solidFill>
                <a:latin typeface="+mj-lt"/>
              </a:defRPr>
            </a:lvl1pPr>
            <a:lvl2pPr marL="228600" indent="0" algn="ctr">
              <a:lnSpc>
                <a:spcPct val="110000"/>
              </a:lnSpc>
              <a:buNone/>
              <a:defRPr sz="4800" b="0">
                <a:solidFill>
                  <a:schemeClr val="tx2"/>
                </a:solidFill>
                <a:latin typeface="+mj-lt"/>
              </a:defRPr>
            </a:lvl2pPr>
            <a:lvl3pPr marL="457200" indent="0" algn="ctr">
              <a:lnSpc>
                <a:spcPct val="110000"/>
              </a:lnSpc>
              <a:buNone/>
              <a:defRPr sz="4400" b="0">
                <a:solidFill>
                  <a:schemeClr val="tx2"/>
                </a:solidFill>
                <a:latin typeface="+mj-lt"/>
              </a:defRPr>
            </a:lvl3pPr>
            <a:lvl4pPr marL="685800" indent="0" algn="ctr">
              <a:lnSpc>
                <a:spcPct val="110000"/>
              </a:lnSpc>
              <a:buNone/>
              <a:defRPr sz="4000" b="0">
                <a:solidFill>
                  <a:schemeClr val="tx2"/>
                </a:solidFill>
                <a:latin typeface="+mj-lt"/>
              </a:defRPr>
            </a:lvl4pPr>
            <a:lvl5pPr marL="914400" indent="0" algn="ctr">
              <a:lnSpc>
                <a:spcPct val="110000"/>
              </a:lnSpc>
              <a:buNone/>
              <a:defRPr sz="3600" b="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C547212-589F-3A5C-2FF7-4E576B86E3A3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0E2472-A2D0-B3C4-1592-E709B2EC9AD6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F95E0B8-C6C3-8095-D53F-FB618E39D7CE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AD2DF78-237E-1E21-906C-273460F55F55}"/>
              </a:ext>
            </a:extLst>
          </p:cNvPr>
          <p:cNvCxnSpPr>
            <a:cxnSpLocks/>
          </p:cNvCxnSpPr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47470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47DCC75-46A1-9953-9459-89672E9805A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40000"/>
              <a:lumOff val="6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62100" y="5549186"/>
            <a:ext cx="9199563" cy="65318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 cap="all" spc="100" baseline="0">
                <a:solidFill>
                  <a:schemeClr val="accent4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36EB602-83B2-B4EE-7805-FB94B774766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562100" y="823913"/>
            <a:ext cx="9199563" cy="3614737"/>
          </a:xfrm>
        </p:spPr>
        <p:txBody>
          <a:bodyPr anchor="ctr">
            <a:normAutofit/>
          </a:bodyPr>
          <a:lstStyle>
            <a:lvl1pPr marL="182880" indent="-182880">
              <a:buNone/>
              <a:defRPr sz="4000">
                <a:solidFill>
                  <a:schemeClr val="accent4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58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41338F2-C5CE-45A7-7748-138B348BA1E7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14CFB94-8AB3-65DB-0B12-EC4F7DAAEBF7}"/>
              </a:ext>
            </a:extLst>
          </p:cNvPr>
          <p:cNvCxnSpPr>
            <a:cxnSpLocks/>
          </p:cNvCxnSpPr>
          <p:nvPr/>
        </p:nvCxnSpPr>
        <p:spPr>
          <a:xfrm flipH="1">
            <a:off x="0" y="5043721"/>
            <a:ext cx="12192000" cy="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20525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27BF6-CDFA-AAF4-F7FD-F4F8D06FF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5309"/>
            <a:ext cx="11277600" cy="914400"/>
          </a:xfrm>
        </p:spPr>
        <p:txBody>
          <a:bodyPr anchor="ctr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AB1904-05A3-AF54-90B7-8B4E5E9BFC6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5613" y="1677988"/>
            <a:ext cx="5181600" cy="44989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D15555F-2C1E-04D7-CE37-D06ABFB568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53200" y="1677988"/>
            <a:ext cx="5180013" cy="4498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108197-F703-726D-4372-C7520052D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5FAA39-5E1E-3A94-5A04-C36BA19E3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E80595-19B6-01B9-FCF5-F94B0C1BB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2C5098A-8A29-951C-ABCF-B4C329C3A94F}"/>
              </a:ext>
            </a:extLst>
          </p:cNvPr>
          <p:cNvCxnSpPr>
            <a:cxnSpLocks/>
          </p:cNvCxnSpPr>
          <p:nvPr/>
        </p:nvCxnSpPr>
        <p:spPr>
          <a:xfrm>
            <a:off x="6096000" y="1362719"/>
            <a:ext cx="0" cy="5490348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4A1D01-2B46-73F0-8DC7-926AA95F7DFC}"/>
              </a:ext>
            </a:extLst>
          </p:cNvPr>
          <p:cNvCxnSpPr>
            <a:cxnSpLocks/>
          </p:cNvCxnSpPr>
          <p:nvPr/>
        </p:nvCxnSpPr>
        <p:spPr>
          <a:xfrm flipH="1">
            <a:off x="0" y="1362719"/>
            <a:ext cx="12200040" cy="0"/>
          </a:xfrm>
          <a:prstGeom prst="line">
            <a:avLst/>
          </a:prstGeom>
          <a:ln w="9525">
            <a:solidFill>
              <a:srgbClr val="616867">
                <a:alpha val="4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19163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F27A1-B3E2-4312-9475-76586DB13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6838"/>
            <a:ext cx="11274552" cy="9144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FD6984-5D8F-6F35-3DC2-352D46E75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9" y="1475623"/>
            <a:ext cx="5184648" cy="676690"/>
          </a:xfrm>
        </p:spPr>
        <p:txBody>
          <a:bodyPr anchor="ctr">
            <a:normAutofit/>
          </a:bodyPr>
          <a:lstStyle>
            <a:lvl1pPr marL="0" indent="0">
              <a:buNone/>
              <a:defRPr sz="1800" b="0" cap="all" spc="16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CD5136-48A0-D788-8CE2-627309A00EC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2522538"/>
            <a:ext cx="5178425" cy="38068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07CEA6-7FDB-2A72-485B-D38A79C182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56248" y="1475622"/>
            <a:ext cx="5184648" cy="676690"/>
          </a:xfrm>
        </p:spPr>
        <p:txBody>
          <a:bodyPr anchor="ctr">
            <a:normAutofit/>
          </a:bodyPr>
          <a:lstStyle>
            <a:lvl1pPr marL="0" indent="0">
              <a:buNone/>
              <a:defRPr sz="1800" b="0" cap="all" spc="16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FC4D723F-4492-3B3B-CE74-0959714EEB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56375" y="2522538"/>
            <a:ext cx="5175249" cy="38068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3FA108E0-63AE-4B5C-404F-AD0FEC4AB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42E2EB77-3CF8-CDC9-D0D4-1AC07FC53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6918C09E-FCA3-F1F6-7408-40D98FCEA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54F547E-1AC1-2FFD-3E17-DC3F25B07823}"/>
              </a:ext>
            </a:extLst>
          </p:cNvPr>
          <p:cNvCxnSpPr>
            <a:cxnSpLocks/>
          </p:cNvCxnSpPr>
          <p:nvPr/>
        </p:nvCxnSpPr>
        <p:spPr>
          <a:xfrm>
            <a:off x="6096000" y="1362719"/>
            <a:ext cx="0" cy="5490348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695E25D-D4B1-2002-F8AB-8B987C1683D9}"/>
              </a:ext>
            </a:extLst>
          </p:cNvPr>
          <p:cNvCxnSpPr>
            <a:cxnSpLocks/>
          </p:cNvCxnSpPr>
          <p:nvPr/>
        </p:nvCxnSpPr>
        <p:spPr>
          <a:xfrm flipH="1">
            <a:off x="0" y="226812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335EA16-C700-BA75-F075-2E4BC3EAFBE2}"/>
              </a:ext>
            </a:extLst>
          </p:cNvPr>
          <p:cNvCxnSpPr>
            <a:cxnSpLocks/>
          </p:cNvCxnSpPr>
          <p:nvPr/>
        </p:nvCxnSpPr>
        <p:spPr>
          <a:xfrm flipH="1">
            <a:off x="0" y="1362719"/>
            <a:ext cx="12200040" cy="0"/>
          </a:xfrm>
          <a:prstGeom prst="line">
            <a:avLst/>
          </a:prstGeom>
          <a:ln w="9525">
            <a:solidFill>
              <a:srgbClr val="616867">
                <a:alpha val="4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369873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552C1-DD73-A90F-46E0-33A4D5580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8F8C10-87B8-01D2-2FEE-DAC41B9CF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25E57E-7F73-3825-2158-80859BAD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A634BF-792D-AC8C-B0E0-492263401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17304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51370D-0A93-44DD-E049-EF3265B73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FF00A2-5853-30A7-62F5-7C7CB5A22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3E97DA-A7DF-E3FF-8937-F6A36D17F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21347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319627-2791-E32D-91B0-857B27F822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34473"/>
            <a:ext cx="11122508" cy="1993399"/>
          </a:xfrm>
        </p:spPr>
        <p:txBody>
          <a:bodyPr anchor="b">
            <a:normAutofit/>
          </a:bodyPr>
          <a:lstStyle>
            <a:lvl1pPr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199" y="3528206"/>
            <a:ext cx="11122509" cy="275425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2128EF9-7F8A-2F1B-41F7-2CA02A35CCA7}"/>
              </a:ext>
            </a:extLst>
          </p:cNvPr>
          <p:cNvCxnSpPr>
            <a:cxnSpLocks/>
          </p:cNvCxnSpPr>
          <p:nvPr/>
        </p:nvCxnSpPr>
        <p:spPr>
          <a:xfrm flipH="1">
            <a:off x="0" y="3191402"/>
            <a:ext cx="121920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61395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7CD7571-736E-B4CB-34E0-C8B31B5A98C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34473"/>
            <a:ext cx="6768193" cy="1993399"/>
          </a:xfrm>
        </p:spPr>
        <p:txBody>
          <a:bodyPr anchor="b">
            <a:normAutofit/>
          </a:bodyPr>
          <a:lstStyle>
            <a:lvl1pPr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3528206"/>
            <a:ext cx="6768193" cy="1794899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2128EF9-7F8A-2F1B-41F7-2CA02A35CCA7}"/>
              </a:ext>
            </a:extLst>
          </p:cNvPr>
          <p:cNvCxnSpPr>
            <a:cxnSpLocks/>
          </p:cNvCxnSpPr>
          <p:nvPr/>
        </p:nvCxnSpPr>
        <p:spPr>
          <a:xfrm flipH="1">
            <a:off x="0" y="3191402"/>
            <a:ext cx="121920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39537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57148D-D60C-3359-4AC2-15A43E221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3401"/>
            <a:ext cx="10515600" cy="11572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A8731C-FCAE-A05A-5A11-57005B86AB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52E70-B2DF-717F-6373-70A688FAD8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445997"/>
            <a:ext cx="39493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5215E5-6146-14C5-665E-EF04630DCB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737594" y="6445997"/>
            <a:ext cx="18421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E8FA3A-8706-3F4B-41CC-B024431F62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34800" y="6445997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874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  <p:sldLayoutId id="2147483732" r:id="rId15"/>
    <p:sldLayoutId id="2147483733" r:id="rId16"/>
    <p:sldLayoutId id="2147483734" r:id="rId17"/>
    <p:sldLayoutId id="2147483735" r:id="rId18"/>
    <p:sldLayoutId id="2147483736" r:id="rId19"/>
    <p:sldLayoutId id="2147483737" r:id="rId20"/>
    <p:sldLayoutId id="2147483738" r:id="rId21"/>
    <p:sldLayoutId id="2147483739" r:id="rId22"/>
    <p:sldLayoutId id="2147483740" r:id="rId23"/>
    <p:sldLayoutId id="2147483741" r:id="rId24"/>
    <p:sldLayoutId id="2147483742" r:id="rId25"/>
    <p:sldLayoutId id="2147483743" r:id="rId26"/>
    <p:sldLayoutId id="2147483744" r:id="rId2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08">
          <p15:clr>
            <a:srgbClr val="F26B43"/>
          </p15:clr>
        </p15:guide>
        <p15:guide id="3" pos="4872">
          <p15:clr>
            <a:srgbClr val="F26B43"/>
          </p15:clr>
        </p15:guide>
        <p15:guide id="4" pos="5160">
          <p15:clr>
            <a:srgbClr val="F26B43"/>
          </p15:clr>
        </p15:guide>
        <p15:guide id="5" pos="2520">
          <p15:clr>
            <a:srgbClr val="F26B43"/>
          </p15:clr>
        </p15:guide>
        <p15:guide id="6" pos="45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llabi5200/Civil_Engineering_Data_Science_Project" TargetMode="Externa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5.xml"/><Relationship Id="rId4" Type="http://schemas.openxmlformats.org/officeDocument/2006/relationships/hyperlink" Target="https://github.com/Pallabi5200/Civil_Engineering_Data_Science_Project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0A7FC8-B2DB-2E82-2BFD-6810D552D14B}"/>
              </a:ext>
            </a:extLst>
          </p:cNvPr>
          <p:cNvSpPr txBox="1"/>
          <p:nvPr/>
        </p:nvSpPr>
        <p:spPr>
          <a:xfrm>
            <a:off x="310896" y="539496"/>
            <a:ext cx="110550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Civil Construction Intelligence &amp; Analytics Engine</a:t>
            </a:r>
            <a:endParaRPr lang="en-US" sz="4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3F69B2-E44E-9BC5-7C3F-5AB618C07E45}"/>
              </a:ext>
            </a:extLst>
          </p:cNvPr>
          <p:cNvSpPr txBox="1"/>
          <p:nvPr/>
        </p:nvSpPr>
        <p:spPr>
          <a:xfrm>
            <a:off x="382539" y="1325880"/>
            <a:ext cx="66385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End-to-End SQL Analytics, Predictive Machine Learning &amp; Executive Dashboards for EPC Projects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1E6001-C08A-65E5-1F71-6533648A4584}"/>
              </a:ext>
            </a:extLst>
          </p:cNvPr>
          <p:cNvSpPr txBox="1"/>
          <p:nvPr/>
        </p:nvSpPr>
        <p:spPr>
          <a:xfrm>
            <a:off x="493776" y="2532888"/>
            <a:ext cx="37124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Prepared By: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Pallabi Mukherjee</a:t>
            </a:r>
          </a:p>
        </p:txBody>
      </p:sp>
      <p:pic>
        <p:nvPicPr>
          <p:cNvPr id="7" name="Picture 6" descr="These Energy-Efficient Builders Are Reshaping Construction's Green ...">
            <a:extLst>
              <a:ext uri="{FF2B5EF4-FFF2-40B4-BE49-F238E27FC236}">
                <a16:creationId xmlns:a16="http://schemas.microsoft.com/office/drawing/2014/main" id="{B5709FDD-70FB-FC05-6663-431F16FB7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4827" y="2112264"/>
            <a:ext cx="5631165" cy="32160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157A759-4423-724E-BA36-5F19B5B77673}"/>
              </a:ext>
            </a:extLst>
          </p:cNvPr>
          <p:cNvSpPr txBox="1"/>
          <p:nvPr/>
        </p:nvSpPr>
        <p:spPr>
          <a:xfrm>
            <a:off x="6172200" y="6193167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2534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3BAA7F-179F-9F2B-0ADE-4E8D9452634D}"/>
              </a:ext>
            </a:extLst>
          </p:cNvPr>
          <p:cNvSpPr txBox="1"/>
          <p:nvPr/>
        </p:nvSpPr>
        <p:spPr>
          <a:xfrm>
            <a:off x="3145536" y="210312"/>
            <a:ext cx="55778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u="sng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Core Industry Challenges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E758348-0291-4CF6-2D11-6E21CD2A86DB}"/>
              </a:ext>
            </a:extLst>
          </p:cNvPr>
          <p:cNvSpPr/>
          <p:nvPr/>
        </p:nvSpPr>
        <p:spPr>
          <a:xfrm>
            <a:off x="585216" y="864765"/>
            <a:ext cx="6172200" cy="1389887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17FF6AD-3EF8-7B16-6610-F0CA3EC328CB}"/>
              </a:ext>
            </a:extLst>
          </p:cNvPr>
          <p:cNvSpPr/>
          <p:nvPr/>
        </p:nvSpPr>
        <p:spPr>
          <a:xfrm>
            <a:off x="585216" y="2562935"/>
            <a:ext cx="6172200" cy="1664208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3B1A811-B521-179C-E074-DECCE9A1BE23}"/>
              </a:ext>
            </a:extLst>
          </p:cNvPr>
          <p:cNvSpPr/>
          <p:nvPr/>
        </p:nvSpPr>
        <p:spPr>
          <a:xfrm>
            <a:off x="521208" y="4471418"/>
            <a:ext cx="6236208" cy="159105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EFE5ED-ABBF-14F2-42F2-F2495DD781E5}"/>
              </a:ext>
            </a:extLst>
          </p:cNvPr>
          <p:cNvSpPr txBox="1"/>
          <p:nvPr/>
        </p:nvSpPr>
        <p:spPr>
          <a:xfrm>
            <a:off x="786384" y="943667"/>
            <a:ext cx="4114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28-Day Concrete Curing Delay</a:t>
            </a:r>
            <a:endParaRPr lang="en-US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54ADBD-5E85-363E-8BC6-0CD712B9E1A3}"/>
              </a:ext>
            </a:extLst>
          </p:cNvPr>
          <p:cNvSpPr txBox="1"/>
          <p:nvPr/>
        </p:nvSpPr>
        <p:spPr>
          <a:xfrm>
            <a:off x="786384" y="1347838"/>
            <a:ext cx="57881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Clients hold 5%–10% payment retention for 28 full days waiting for laboratory concrete cube tests, locking up site cash flow.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981433-A0A3-52D8-86D6-B304433196D1}"/>
              </a:ext>
            </a:extLst>
          </p:cNvPr>
          <p:cNvSpPr txBox="1"/>
          <p:nvPr/>
        </p:nvSpPr>
        <p:spPr>
          <a:xfrm>
            <a:off x="845820" y="2737725"/>
            <a:ext cx="3383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Subcontractor Budget Overruns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A26011-7948-410B-296E-9FD73FA3446F}"/>
              </a:ext>
            </a:extLst>
          </p:cNvPr>
          <p:cNvSpPr txBox="1"/>
          <p:nvPr/>
        </p:nvSpPr>
        <p:spPr>
          <a:xfrm>
            <a:off x="845820" y="3167390"/>
            <a:ext cx="4599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Purchase orders issued to sub-contractors often exceed Work Order budget ceilings without early warning.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C3EBEB-933B-0D09-C29C-7ADE8B402468}"/>
              </a:ext>
            </a:extLst>
          </p:cNvPr>
          <p:cNvSpPr txBox="1"/>
          <p:nvPr/>
        </p:nvSpPr>
        <p:spPr>
          <a:xfrm>
            <a:off x="1005840" y="4590288"/>
            <a:ext cx="3054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Paper Register Chaos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A818C7-58FE-7D4E-613C-081753D074AD}"/>
              </a:ext>
            </a:extLst>
          </p:cNvPr>
          <p:cNvSpPr txBox="1"/>
          <p:nvPr/>
        </p:nvSpPr>
        <p:spPr>
          <a:xfrm>
            <a:off x="1005840" y="5005336"/>
            <a:ext cx="5090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Quality lab test results, daily activity logs, and physical defect reports are trapped in handwritten paper notebooks.</a:t>
            </a:r>
          </a:p>
        </p:txBody>
      </p:sp>
      <p:pic>
        <p:nvPicPr>
          <p:cNvPr id="16" name="Picture 15" descr="Concrete Cube Compression Testing Machine - Compression Testing Machine ...">
            <a:extLst>
              <a:ext uri="{FF2B5EF4-FFF2-40B4-BE49-F238E27FC236}">
                <a16:creationId xmlns:a16="http://schemas.microsoft.com/office/drawing/2014/main" id="{BF8920EA-0A86-D177-3B37-5A8AE0C71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088" y="304533"/>
            <a:ext cx="3364564" cy="316828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D26D430-FC28-5D63-1319-61A041B8F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509" y="3780305"/>
            <a:ext cx="3863721" cy="216824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C87066-23B6-93D9-35D1-A1754B58A445}"/>
              </a:ext>
            </a:extLst>
          </p:cNvPr>
          <p:cNvSpPr txBox="1"/>
          <p:nvPr/>
        </p:nvSpPr>
        <p:spPr>
          <a:xfrm>
            <a:off x="6693408" y="6291857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4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3603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56A47D-6FB9-6B85-DAF2-14C88526AE41}"/>
              </a:ext>
            </a:extLst>
          </p:cNvPr>
          <p:cNvSpPr txBox="1"/>
          <p:nvPr/>
        </p:nvSpPr>
        <p:spPr>
          <a:xfrm>
            <a:off x="2980944" y="146304"/>
            <a:ext cx="706831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 Solution &amp; Business Impact</a:t>
            </a:r>
          </a:p>
          <a:p>
            <a:endParaRPr lang="en-US" sz="3200" b="1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63B981B-9148-D090-DFE3-5D98ACDFB116}"/>
              </a:ext>
            </a:extLst>
          </p:cNvPr>
          <p:cNvSpPr/>
          <p:nvPr/>
        </p:nvSpPr>
        <p:spPr>
          <a:xfrm>
            <a:off x="390144" y="1005840"/>
            <a:ext cx="5705856" cy="1152144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5C605F-1694-2D5B-ED19-3799ACB390AE}"/>
              </a:ext>
            </a:extLst>
          </p:cNvPr>
          <p:cNvSpPr/>
          <p:nvPr/>
        </p:nvSpPr>
        <p:spPr>
          <a:xfrm>
            <a:off x="390144" y="2468880"/>
            <a:ext cx="5705856" cy="1289304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2B9452F-F53F-512C-4295-024B48E895AC}"/>
              </a:ext>
            </a:extLst>
          </p:cNvPr>
          <p:cNvSpPr/>
          <p:nvPr/>
        </p:nvSpPr>
        <p:spPr>
          <a:xfrm>
            <a:off x="390144" y="4023360"/>
            <a:ext cx="5705856" cy="125272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1028934-577C-66E1-487E-7943AA58FBB3}"/>
              </a:ext>
            </a:extLst>
          </p:cNvPr>
          <p:cNvSpPr/>
          <p:nvPr/>
        </p:nvSpPr>
        <p:spPr>
          <a:xfrm>
            <a:off x="6601968" y="950976"/>
            <a:ext cx="5257800" cy="1077218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02EAC8-01F4-1A68-FEC4-746024A09A66}"/>
              </a:ext>
            </a:extLst>
          </p:cNvPr>
          <p:cNvSpPr/>
          <p:nvPr/>
        </p:nvSpPr>
        <p:spPr>
          <a:xfrm>
            <a:off x="6542532" y="2388358"/>
            <a:ext cx="5376672" cy="1289304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FA28E36-8EE6-2DBA-A247-E24D7FEB2A0F}"/>
              </a:ext>
            </a:extLst>
          </p:cNvPr>
          <p:cNvSpPr/>
          <p:nvPr/>
        </p:nvSpPr>
        <p:spPr>
          <a:xfrm>
            <a:off x="6542532" y="4043851"/>
            <a:ext cx="5317236" cy="1252728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B5625D-9A5A-2060-5CFC-11BDF852A2C2}"/>
              </a:ext>
            </a:extLst>
          </p:cNvPr>
          <p:cNvSpPr txBox="1"/>
          <p:nvPr/>
        </p:nvSpPr>
        <p:spPr>
          <a:xfrm>
            <a:off x="601980" y="1022003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3NF Relational Database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EE4604-A87E-9C0F-8C61-BBCF39ABDC5F}"/>
              </a:ext>
            </a:extLst>
          </p:cNvPr>
          <p:cNvSpPr txBox="1"/>
          <p:nvPr/>
        </p:nvSpPr>
        <p:spPr>
          <a:xfrm>
            <a:off x="509016" y="1321743"/>
            <a:ext cx="558698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Unified 7 paper registers into a central SQLite database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construction_project.db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lvl="0"/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SQL Financial Engine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Tracked progressive billing using SUM() OVER and flagged vendor overrun risks using CASE WHEN.</a:t>
            </a:r>
          </a:p>
          <a:p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63EDA5-16B3-70F7-CA6B-45C7E6C0B3D0}"/>
              </a:ext>
            </a:extLst>
          </p:cNvPr>
          <p:cNvSpPr txBox="1"/>
          <p:nvPr/>
        </p:nvSpPr>
        <p:spPr>
          <a:xfrm>
            <a:off x="509016" y="2499420"/>
            <a:ext cx="34015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Predictive ML Engine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54F104-FCBF-C59B-BF9B-F975674B098F}"/>
              </a:ext>
            </a:extLst>
          </p:cNvPr>
          <p:cNvSpPr txBox="1"/>
          <p:nvPr/>
        </p:nvSpPr>
        <p:spPr>
          <a:xfrm>
            <a:off x="509016" y="2788134"/>
            <a:ext cx="548030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 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Predicted 28-day concrete strength early using non-destructive sound wave testing (UPV) and Random Forest models.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2C9D58-22B7-4F5E-7ABF-CC102E2A736B}"/>
              </a:ext>
            </a:extLst>
          </p:cNvPr>
          <p:cNvSpPr txBox="1"/>
          <p:nvPr/>
        </p:nvSpPr>
        <p:spPr>
          <a:xfrm>
            <a:off x="758952" y="4114800"/>
            <a:ext cx="39867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Interactive Dashboards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94BFFD-32F1-BD00-5DDC-13F487B658CE}"/>
              </a:ext>
            </a:extLst>
          </p:cNvPr>
          <p:cNvSpPr txBox="1"/>
          <p:nvPr/>
        </p:nvSpPr>
        <p:spPr>
          <a:xfrm>
            <a:off x="758952" y="4441531"/>
            <a:ext cx="481736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 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Deployed a live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Streamlit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web app (app.py) for ML serving and a Power BI   Star Schema executive dashboard.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A1D51D-4421-4FBD-748C-64CDDBB7AA11}"/>
              </a:ext>
            </a:extLst>
          </p:cNvPr>
          <p:cNvSpPr txBox="1"/>
          <p:nvPr/>
        </p:nvSpPr>
        <p:spPr>
          <a:xfrm>
            <a:off x="6839712" y="983189"/>
            <a:ext cx="4425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21–28 Days Faster Cash Flow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2B60C5-C10E-897F-6988-0BFFB1ACB545}"/>
              </a:ext>
            </a:extLst>
          </p:cNvPr>
          <p:cNvSpPr txBox="1"/>
          <p:nvPr/>
        </p:nvSpPr>
        <p:spPr>
          <a:xfrm>
            <a:off x="6839712" y="1290965"/>
            <a:ext cx="51389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Accelerated client retention payment collection using early sound wave ML compliance predictions.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BAC1EE-ECA4-2D88-CF93-C0AA3A97C3EA}"/>
              </a:ext>
            </a:extLst>
          </p:cNvPr>
          <p:cNvSpPr txBox="1"/>
          <p:nvPr/>
        </p:nvSpPr>
        <p:spPr>
          <a:xfrm>
            <a:off x="6839712" y="2486579"/>
            <a:ext cx="34015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494A91-EB0E-1854-2359-A629ADC30D48}"/>
              </a:ext>
            </a:extLst>
          </p:cNvPr>
          <p:cNvSpPr txBox="1"/>
          <p:nvPr/>
        </p:nvSpPr>
        <p:spPr>
          <a:xfrm>
            <a:off x="6839712" y="2464409"/>
            <a:ext cx="34015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100% Budget Overrun Protection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F096A6-302B-5806-63F4-4BE014FF3DC8}"/>
              </a:ext>
            </a:extLst>
          </p:cNvPr>
          <p:cNvSpPr txBox="1"/>
          <p:nvPr/>
        </p:nvSpPr>
        <p:spPr>
          <a:xfrm>
            <a:off x="6839712" y="2811424"/>
            <a:ext cx="548030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 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early risk alerts whenever contractor purchase orders reached 80%+ budget limits.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184C24-FF94-5D69-EA5D-3D7154B6D39F}"/>
              </a:ext>
            </a:extLst>
          </p:cNvPr>
          <p:cNvSpPr txBox="1"/>
          <p:nvPr/>
        </p:nvSpPr>
        <p:spPr>
          <a:xfrm>
            <a:off x="6729984" y="4114800"/>
            <a:ext cx="39867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100% Concrete Quality Accuracy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A61D3D-955B-5AB9-10CA-7B55DA85E80A}"/>
              </a:ext>
            </a:extLst>
          </p:cNvPr>
          <p:cNvSpPr txBox="1"/>
          <p:nvPr/>
        </p:nvSpPr>
        <p:spPr>
          <a:xfrm>
            <a:off x="6601968" y="4455291"/>
            <a:ext cx="4817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 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Guaranteed predictive compliance classification on structural concrete.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7C06A7-AF71-2EF4-A486-FD9BF5B7A127}"/>
              </a:ext>
            </a:extLst>
          </p:cNvPr>
          <p:cNvSpPr txBox="1"/>
          <p:nvPr/>
        </p:nvSpPr>
        <p:spPr>
          <a:xfrm>
            <a:off x="6236208" y="6188476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6738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6B60A69-39D8-3720-2865-FF6369E7D5D5}"/>
              </a:ext>
            </a:extLst>
          </p:cNvPr>
          <p:cNvSpPr txBox="1"/>
          <p:nvPr/>
        </p:nvSpPr>
        <p:spPr>
          <a:xfrm>
            <a:off x="2347275" y="273377"/>
            <a:ext cx="81070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Database Architecture (3NF Relational Model)</a:t>
            </a:r>
          </a:p>
          <a:p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B11A827-C1E7-B75E-934B-B07DE7BA784F}"/>
              </a:ext>
            </a:extLst>
          </p:cNvPr>
          <p:cNvSpPr/>
          <p:nvPr/>
        </p:nvSpPr>
        <p:spPr>
          <a:xfrm>
            <a:off x="405352" y="948929"/>
            <a:ext cx="5410985" cy="873568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5855F7-1609-390A-61C9-9AC72D938CEF}"/>
              </a:ext>
            </a:extLst>
          </p:cNvPr>
          <p:cNvSpPr txBox="1"/>
          <p:nvPr/>
        </p:nvSpPr>
        <p:spPr>
          <a:xfrm>
            <a:off x="1159496" y="1168896"/>
            <a:ext cx="45342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Central Concept &amp; 3NF Benefits</a:t>
            </a:r>
            <a:endParaRPr lang="en-US" sz="2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0B4313-9131-5394-C5A1-41F3D94C517F}"/>
              </a:ext>
            </a:extLst>
          </p:cNvPr>
          <p:cNvSpPr/>
          <p:nvPr/>
        </p:nvSpPr>
        <p:spPr>
          <a:xfrm>
            <a:off x="471339" y="1946135"/>
            <a:ext cx="5279010" cy="374297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32D21C-A7B8-1D20-7D68-AC76945AC8A4}"/>
              </a:ext>
            </a:extLst>
          </p:cNvPr>
          <p:cNvSpPr txBox="1"/>
          <p:nvPr/>
        </p:nvSpPr>
        <p:spPr>
          <a:xfrm>
            <a:off x="658541" y="2042464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 Digital Drawers Analogy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97D2AB-CA1C-FB6F-8855-93E74AA820E1}"/>
              </a:ext>
            </a:extLst>
          </p:cNvPr>
          <p:cNvSpPr txBox="1"/>
          <p:nvPr/>
        </p:nvSpPr>
        <p:spPr>
          <a:xfrm>
            <a:off x="673348" y="2475232"/>
            <a:ext cx="5099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Unified 7 paper site registers into a central SQLite database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construction_project.db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D387BD-9555-E5EE-A458-C17BD5DA9D92}"/>
              </a:ext>
            </a:extLst>
          </p:cNvPr>
          <p:cNvSpPr txBox="1"/>
          <p:nvPr/>
        </p:nvSpPr>
        <p:spPr>
          <a:xfrm>
            <a:off x="696249" y="3114000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3NF Normalization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F1DAB9-0660-3DE5-15BD-30C131EDD2FC}"/>
              </a:ext>
            </a:extLst>
          </p:cNvPr>
          <p:cNvSpPr txBox="1"/>
          <p:nvPr/>
        </p:nvSpPr>
        <p:spPr>
          <a:xfrm>
            <a:off x="696249" y="3551409"/>
            <a:ext cx="50999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Eliminated duplicate client, vendor, and site logs across all tables.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4E7F8E-4A31-032D-1330-F09996F81F80}"/>
              </a:ext>
            </a:extLst>
          </p:cNvPr>
          <p:cNvSpPr txBox="1"/>
          <p:nvPr/>
        </p:nvSpPr>
        <p:spPr>
          <a:xfrm>
            <a:off x="696249" y="4061125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Auditing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85DCA97-69CC-8960-F4D1-481C23FB58EF}"/>
              </a:ext>
            </a:extLst>
          </p:cNvPr>
          <p:cNvSpPr txBox="1"/>
          <p:nvPr/>
        </p:nvSpPr>
        <p:spPr>
          <a:xfrm>
            <a:off x="716435" y="4540956"/>
            <a:ext cx="5099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Indexed key columns for instant SQL financial and quality auditing across 8 active civil sites.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106717E-E226-5E69-4C83-5B28CEC9AC05}"/>
              </a:ext>
            </a:extLst>
          </p:cNvPr>
          <p:cNvSpPr/>
          <p:nvPr/>
        </p:nvSpPr>
        <p:spPr>
          <a:xfrm>
            <a:off x="6570482" y="948929"/>
            <a:ext cx="5216166" cy="873568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2B9969-783A-EB0C-E63A-7873B2D2422B}"/>
              </a:ext>
            </a:extLst>
          </p:cNvPr>
          <p:cNvSpPr txBox="1"/>
          <p:nvPr/>
        </p:nvSpPr>
        <p:spPr>
          <a:xfrm>
            <a:off x="6911418" y="1159441"/>
            <a:ext cx="45342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 Normalized Tables</a:t>
            </a:r>
            <a:endParaRPr lang="en-US" sz="2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750AA8-470C-864A-514F-D39E282480F4}"/>
              </a:ext>
            </a:extLst>
          </p:cNvPr>
          <p:cNvSpPr/>
          <p:nvPr/>
        </p:nvSpPr>
        <p:spPr>
          <a:xfrm>
            <a:off x="6645897" y="1997646"/>
            <a:ext cx="5099902" cy="374297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05501B-8FFB-33AC-9D22-871E0F6B4C70}"/>
              </a:ext>
            </a:extLst>
          </p:cNvPr>
          <p:cNvSpPr txBox="1"/>
          <p:nvPr/>
        </p:nvSpPr>
        <p:spPr>
          <a:xfrm>
            <a:off x="6750258" y="2149258"/>
            <a:ext cx="497040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Master site metadata, client names, structure types (WTG, Shed, Grouting).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Work_Orders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Master contract agreements &amp; approved budget ceilings.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Purchase_Orders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Subcontractor material orders &amp; vendor commitments.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Tax_Invoices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Client milestone billing, payment dates &amp; net payable amounts.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BOQ_Items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Bill of Quantities unit rates (steel, concrete, excavation, grouting).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Field_Quality_Logs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Concrete compressive strength &amp; Ultrasonic Pulse Velocity sound wave readings.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Damage_Reports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Site defect observations, crack length measurements &amp; 1–5 severity scores.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6206E1-93DE-BF3C-8C15-64778C022CAF}"/>
              </a:ext>
            </a:extLst>
          </p:cNvPr>
          <p:cNvSpPr txBox="1"/>
          <p:nvPr/>
        </p:nvSpPr>
        <p:spPr>
          <a:xfrm>
            <a:off x="6400800" y="6245037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8674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>
            <a:extLst>
              <a:ext uri="{FF2B5EF4-FFF2-40B4-BE49-F238E27FC236}">
                <a16:creationId xmlns:a16="http://schemas.microsoft.com/office/drawing/2014/main" id="{5DC2EA6B-A2EE-7A8A-EF99-98BC5FC55A2D}"/>
              </a:ext>
            </a:extLst>
          </p:cNvPr>
          <p:cNvSpPr/>
          <p:nvPr/>
        </p:nvSpPr>
        <p:spPr>
          <a:xfrm>
            <a:off x="6058449" y="1915307"/>
            <a:ext cx="5753648" cy="452681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20EE65-E11A-F845-7CDE-EAB33A0A78BF}"/>
              </a:ext>
            </a:extLst>
          </p:cNvPr>
          <p:cNvSpPr txBox="1"/>
          <p:nvPr/>
        </p:nvSpPr>
        <p:spPr>
          <a:xfrm>
            <a:off x="2709675" y="118024"/>
            <a:ext cx="784102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Scope &amp; Core Research Questions</a:t>
            </a:r>
          </a:p>
          <a:p>
            <a:endParaRPr lang="en-US" sz="3200" b="1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8294816-05C7-BA50-9DE0-08620C2A135D}"/>
              </a:ext>
            </a:extLst>
          </p:cNvPr>
          <p:cNvSpPr/>
          <p:nvPr/>
        </p:nvSpPr>
        <p:spPr>
          <a:xfrm>
            <a:off x="744716" y="857839"/>
            <a:ext cx="4939645" cy="952107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5BB1B1-4B27-A46D-BCEF-69B49C331E15}"/>
              </a:ext>
            </a:extLst>
          </p:cNvPr>
          <p:cNvSpPr txBox="1"/>
          <p:nvPr/>
        </p:nvSpPr>
        <p:spPr>
          <a:xfrm>
            <a:off x="1316092" y="1102484"/>
            <a:ext cx="45342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Multi-Site Scope (8 Active Sites)</a:t>
            </a:r>
            <a:endParaRPr lang="en-US" sz="2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5A3890B-7E96-BF2B-0DCA-6A084A0FD230}"/>
              </a:ext>
            </a:extLst>
          </p:cNvPr>
          <p:cNvSpPr/>
          <p:nvPr/>
        </p:nvSpPr>
        <p:spPr>
          <a:xfrm>
            <a:off x="659874" y="2036961"/>
            <a:ext cx="5105668" cy="952107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DDA2D16-FD5F-BF76-D7AE-380D93F25ADD}"/>
              </a:ext>
            </a:extLst>
          </p:cNvPr>
          <p:cNvSpPr/>
          <p:nvPr/>
        </p:nvSpPr>
        <p:spPr>
          <a:xfrm>
            <a:off x="659874" y="3216083"/>
            <a:ext cx="5105668" cy="110139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AAF50A7-B2D2-9208-9421-539E8213DF72}"/>
              </a:ext>
            </a:extLst>
          </p:cNvPr>
          <p:cNvSpPr/>
          <p:nvPr/>
        </p:nvSpPr>
        <p:spPr>
          <a:xfrm>
            <a:off x="659874" y="4562357"/>
            <a:ext cx="5105668" cy="122077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0A0633-1CC1-2231-C8A6-40FA08619EB9}"/>
              </a:ext>
            </a:extLst>
          </p:cNvPr>
          <p:cNvSpPr txBox="1"/>
          <p:nvPr/>
        </p:nvSpPr>
        <p:spPr>
          <a:xfrm>
            <a:off x="1808611" y="2049820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WTG Foundations (5 Sites)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E3DE70-7959-661C-3103-2B0C5DDF23CA}"/>
              </a:ext>
            </a:extLst>
          </p:cNvPr>
          <p:cNvSpPr txBox="1"/>
          <p:nvPr/>
        </p:nvSpPr>
        <p:spPr>
          <a:xfrm>
            <a:off x="758295" y="2344313"/>
            <a:ext cx="4926066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i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GAL06, GAL07, GAL33, GAL34, GAL35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(Foundation retrofitting &amp; anchor bolt pours).</a:t>
            </a:r>
          </a:p>
          <a:p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652938-C656-B505-6526-5D86B8EEA992}"/>
              </a:ext>
            </a:extLst>
          </p:cNvPr>
          <p:cNvSpPr txBox="1"/>
          <p:nvPr/>
        </p:nvSpPr>
        <p:spPr>
          <a:xfrm>
            <a:off x="2015042" y="3208951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Epoxy Grouting (1 Site)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ABBAFB-E2AB-877A-629B-5DE7FDC088C8}"/>
              </a:ext>
            </a:extLst>
          </p:cNvPr>
          <p:cNvSpPr txBox="1"/>
          <p:nvPr/>
        </p:nvSpPr>
        <p:spPr>
          <a:xfrm>
            <a:off x="1316092" y="3686269"/>
            <a:ext cx="492606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i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Molagavali</a:t>
            </a:r>
            <a:r>
              <a:rPr lang="en-US" sz="1200" b="1" i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(High-precision epoxy grouting repair).</a:t>
            </a:r>
          </a:p>
          <a:p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B1B694-EC7E-906A-E25B-F130FE2E7740}"/>
              </a:ext>
            </a:extLst>
          </p:cNvPr>
          <p:cNvSpPr txBox="1"/>
          <p:nvPr/>
        </p:nvSpPr>
        <p:spPr>
          <a:xfrm>
            <a:off x="2015042" y="4602471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Industrial Sheds (3 Sites)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A29D47-AF3B-AD35-7D98-5674AC5280F0}"/>
              </a:ext>
            </a:extLst>
          </p:cNvPr>
          <p:cNvSpPr txBox="1"/>
          <p:nvPr/>
        </p:nvSpPr>
        <p:spPr>
          <a:xfrm>
            <a:off x="924319" y="5109327"/>
            <a:ext cx="492606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i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Patan, </a:t>
            </a:r>
            <a:r>
              <a:rPr lang="en-US" sz="1200" b="1" i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Jaglur</a:t>
            </a:r>
            <a:r>
              <a:rPr lang="en-US" sz="1200" b="1" i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Otha Phase 3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(Structural steel framing &amp; heavy slab pours).</a:t>
            </a:r>
          </a:p>
          <a:p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342685A-2B9A-90AC-745E-D1512FB50A4C}"/>
              </a:ext>
            </a:extLst>
          </p:cNvPr>
          <p:cNvSpPr/>
          <p:nvPr/>
        </p:nvSpPr>
        <p:spPr>
          <a:xfrm>
            <a:off x="6242158" y="826485"/>
            <a:ext cx="4939645" cy="952107"/>
          </a:xfrm>
          <a:prstGeom prst="round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B09B75-EBEA-0239-EFC8-D6539A90AF3D}"/>
              </a:ext>
            </a:extLst>
          </p:cNvPr>
          <p:cNvSpPr txBox="1"/>
          <p:nvPr/>
        </p:nvSpPr>
        <p:spPr>
          <a:xfrm>
            <a:off x="6820832" y="1052112"/>
            <a:ext cx="45342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 Core Research Questions </a:t>
            </a:r>
            <a:endParaRPr lang="en-US" sz="2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98AD068-4598-9BE8-3D89-E24E94F90F4C}"/>
              </a:ext>
            </a:extLst>
          </p:cNvPr>
          <p:cNvSpPr txBox="1"/>
          <p:nvPr/>
        </p:nvSpPr>
        <p:spPr>
          <a:xfrm>
            <a:off x="6139630" y="1946445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Progressive Cash Flow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90008D2-9DE2-D1E5-982E-51141B434C69}"/>
              </a:ext>
            </a:extLst>
          </p:cNvPr>
          <p:cNvSpPr txBox="1"/>
          <p:nvPr/>
        </p:nvSpPr>
        <p:spPr>
          <a:xfrm>
            <a:off x="6052371" y="2234339"/>
            <a:ext cx="575972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track cumulative milestone billing chronologically per site without losing individual invoice details?</a:t>
            </a:r>
          </a:p>
          <a:p>
            <a:pPr lvl="0"/>
            <a:r>
              <a:rPr lang="en-US" dirty="0"/>
              <a:t> </a:t>
            </a:r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 SUM() OVER Window Function</a:t>
            </a:r>
            <a:endParaRPr lang="en-US" sz="1200" b="1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5080994-94A5-0EE1-B6E7-146750D26698}"/>
              </a:ext>
            </a:extLst>
          </p:cNvPr>
          <p:cNvSpPr txBox="1"/>
          <p:nvPr/>
        </p:nvSpPr>
        <p:spPr>
          <a:xfrm>
            <a:off x="6096000" y="3078147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Vendor Overrun Control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DADD86-349F-19EE-8215-79F0C10D4A15}"/>
              </a:ext>
            </a:extLst>
          </p:cNvPr>
          <p:cNvSpPr txBox="1"/>
          <p:nvPr/>
        </p:nvSpPr>
        <p:spPr>
          <a:xfrm>
            <a:off x="6096000" y="3424658"/>
            <a:ext cx="57160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audit subcontractor purchase order commitments against client budget ceilings early?</a:t>
            </a:r>
          </a:p>
          <a:p>
            <a:pPr lvl="0"/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 CTE &amp; 80% Overrun Risk Flag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106C45-71D2-392F-430D-CF4A666B3BB9}"/>
              </a:ext>
            </a:extLst>
          </p:cNvPr>
          <p:cNvSpPr txBox="1"/>
          <p:nvPr/>
        </p:nvSpPr>
        <p:spPr>
          <a:xfrm>
            <a:off x="6052371" y="4139371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Quality Control &amp; NDT Testing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918A7F-B550-5395-3DC6-CD3B52AE6700}"/>
              </a:ext>
            </a:extLst>
          </p:cNvPr>
          <p:cNvSpPr txBox="1"/>
          <p:nvPr/>
        </p:nvSpPr>
        <p:spPr>
          <a:xfrm>
            <a:off x="6114830" y="4490288"/>
            <a:ext cx="5759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can early Ultrasonic Pulse Velocity (UPV) sound wave speed forecast 28-day concrete strength?</a:t>
            </a:r>
          </a:p>
          <a:p>
            <a:pPr lvl="0"/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 Forest ML Model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929A8DE-0FE4-7786-0952-0A93DF32ACFD}"/>
              </a:ext>
            </a:extLst>
          </p:cNvPr>
          <p:cNvSpPr txBox="1"/>
          <p:nvPr/>
        </p:nvSpPr>
        <p:spPr>
          <a:xfrm>
            <a:off x="6139630" y="5201556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Defect Triage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9306328-FC15-4D04-2772-7D2CF5B6AD49}"/>
              </a:ext>
            </a:extLst>
          </p:cNvPr>
          <p:cNvSpPr txBox="1"/>
          <p:nvPr/>
        </p:nvSpPr>
        <p:spPr>
          <a:xfrm>
            <a:off x="6114830" y="5562211"/>
            <a:ext cx="5759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automatically classify physical site damage inspection logs into standardized 1–5 severity ratings?</a:t>
            </a:r>
          </a:p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Multi-Class ML Classifier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50A9A14-C98A-52B4-39DB-509E935E75B3}"/>
              </a:ext>
            </a:extLst>
          </p:cNvPr>
          <p:cNvSpPr txBox="1"/>
          <p:nvPr/>
        </p:nvSpPr>
        <p:spPr>
          <a:xfrm>
            <a:off x="0" y="6244179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64463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D90151-9421-F26E-2869-6BACAA489B6B}"/>
              </a:ext>
            </a:extLst>
          </p:cNvPr>
          <p:cNvSpPr txBox="1"/>
          <p:nvPr/>
        </p:nvSpPr>
        <p:spPr>
          <a:xfrm>
            <a:off x="1362456" y="172888"/>
            <a:ext cx="102412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 Commercial Engine – Progressive Billing &amp; Cash Flow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74AD91-B0FB-815B-D82D-DA357DEF4B4D}"/>
              </a:ext>
            </a:extLst>
          </p:cNvPr>
          <p:cNvSpPr txBox="1"/>
          <p:nvPr/>
        </p:nvSpPr>
        <p:spPr>
          <a:xfrm>
            <a:off x="6693408" y="6161892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87222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E8D319-AF6A-175F-721C-AF1A00E3EFEA}"/>
              </a:ext>
            </a:extLst>
          </p:cNvPr>
          <p:cNvSpPr txBox="1"/>
          <p:nvPr/>
        </p:nvSpPr>
        <p:spPr>
          <a:xfrm>
            <a:off x="810706" y="276582"/>
            <a:ext cx="111707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 Commercial Engine: Vendor Overrun Risk &amp; Quality Audits</a:t>
            </a:r>
          </a:p>
          <a:p>
            <a:endParaRPr lang="en-US" sz="3200" b="1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3200" b="1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F17471F-894E-FD1F-8FBA-ED45AC9D46BF}"/>
              </a:ext>
            </a:extLst>
          </p:cNvPr>
          <p:cNvSpPr/>
          <p:nvPr/>
        </p:nvSpPr>
        <p:spPr>
          <a:xfrm>
            <a:off x="448056" y="987552"/>
            <a:ext cx="6126480" cy="2368296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C5DC7BE-67D7-3131-205B-7D78901ADFBD}"/>
              </a:ext>
            </a:extLst>
          </p:cNvPr>
          <p:cNvSpPr/>
          <p:nvPr/>
        </p:nvSpPr>
        <p:spPr>
          <a:xfrm>
            <a:off x="448056" y="3585737"/>
            <a:ext cx="6126480" cy="2284711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3CC9B4-3755-3883-34B2-DFFD98DF5EE2}"/>
              </a:ext>
            </a:extLst>
          </p:cNvPr>
          <p:cNvSpPr txBox="1"/>
          <p:nvPr/>
        </p:nvSpPr>
        <p:spPr>
          <a:xfrm>
            <a:off x="775338" y="1162852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Subcontractor Overrun Risk CTE (WITH ... AS)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30D507-A647-AE7F-42A2-DD875A91A757}"/>
              </a:ext>
            </a:extLst>
          </p:cNvPr>
          <p:cNvSpPr txBox="1"/>
          <p:nvPr/>
        </p:nvSpPr>
        <p:spPr>
          <a:xfrm>
            <a:off x="717804" y="1587773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Created a Common Table Expression to calculate 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(Total PO Value / Work Order Ceiling) * 100.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Applied 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CASE WHEN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trigger a 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 RISK (&gt;80%)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warning whenever subcontractor orders approach budget limits.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ROI: Protects contracting profit margins by stopping unbudgeted cost overruns early.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64ECC1-FB43-3056-6889-FE23A7A3BC64}"/>
              </a:ext>
            </a:extLst>
          </p:cNvPr>
          <p:cNvSpPr txBox="1"/>
          <p:nvPr/>
        </p:nvSpPr>
        <p:spPr>
          <a:xfrm>
            <a:off x="717804" y="3757654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Single-Pass Quality Audits (CASE WHEN)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F1E240-C883-F8C6-78C7-2ABA68BEEBDB}"/>
              </a:ext>
            </a:extLst>
          </p:cNvPr>
          <p:cNvSpPr txBox="1"/>
          <p:nvPr/>
        </p:nvSpPr>
        <p:spPr>
          <a:xfrm>
            <a:off x="717804" y="4096208"/>
            <a:ext cx="5586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277166"/>
      </p:ext>
    </p:extLst>
  </p:cSld>
  <p:clrMapOvr>
    <a:masterClrMapping/>
  </p:clrMapOvr>
</p:sld>
</file>

<file path=ppt/theme/theme1.xml><?xml version="1.0" encoding="utf-8"?>
<a:theme xmlns:a="http://schemas.openxmlformats.org/drawingml/2006/main" name="Shoji">
  <a:themeElements>
    <a:clrScheme name="Shoji">
      <a:dk1>
        <a:srgbClr val="131313"/>
      </a:dk1>
      <a:lt1>
        <a:sysClr val="window" lastClr="FFFFFF"/>
      </a:lt1>
      <a:dk2>
        <a:srgbClr val="1D3433"/>
      </a:dk2>
      <a:lt2>
        <a:srgbClr val="F3F2ED"/>
      </a:lt2>
      <a:accent1>
        <a:srgbClr val="7C5C3E"/>
      </a:accent1>
      <a:accent2>
        <a:srgbClr val="B8A189"/>
      </a:accent2>
      <a:accent3>
        <a:srgbClr val="A1A696"/>
      </a:accent3>
      <a:accent4>
        <a:srgbClr val="566868"/>
      </a:accent4>
      <a:accent5>
        <a:srgbClr val="786F50"/>
      </a:accent5>
      <a:accent6>
        <a:srgbClr val="A9A375"/>
      </a:accent6>
      <a:hlink>
        <a:srgbClr val="B1785F"/>
      </a:hlink>
      <a:folHlink>
        <a:srgbClr val="6C7F7F"/>
      </a:folHlink>
    </a:clrScheme>
    <a:fontScheme name="Custom 35">
      <a:majorFont>
        <a:latin typeface="Walbaum Display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hoji" id="{FC7F6458-703E-4B19-BAF9-E88A9B02521B}" vid="{6FBA4037-BA28-4926-BD89-6C54034403A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Shoji</Template>
  <TotalTime>289</TotalTime>
  <Words>797</Words>
  <Application>Microsoft Office PowerPoint</Application>
  <PresentationFormat>Widescreen</PresentationFormat>
  <Paragraphs>90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 Light</vt:lpstr>
      <vt:lpstr>Arial</vt:lpstr>
      <vt:lpstr>Calibri</vt:lpstr>
      <vt:lpstr>Walbaum Display</vt:lpstr>
      <vt:lpstr>Shoji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Vijaykumar Bhattacharji</dc:creator>
  <cp:lastModifiedBy>Vijaykumar Bhattacharji</cp:lastModifiedBy>
  <cp:revision>19</cp:revision>
  <dcterms:created xsi:type="dcterms:W3CDTF">2026-07-30T05:08:02Z</dcterms:created>
  <dcterms:modified xsi:type="dcterms:W3CDTF">2026-07-31T06:26:41Z</dcterms:modified>
</cp:coreProperties>
</file>