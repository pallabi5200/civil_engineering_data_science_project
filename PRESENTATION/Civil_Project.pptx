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17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5" d="100"/>
          <a:sy n="105" d="100"/>
        </p:scale>
        <p:origin x="798" y="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with Picture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509CE9-F18C-5020-CF43-5960AFE654F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85800" y="240410"/>
            <a:ext cx="10813067" cy="783835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defRPr lang="en-US" sz="3600" dirty="0">
                <a:solidFill>
                  <a:schemeClr val="tx2">
                    <a:alpha val="90000"/>
                  </a:schemeClr>
                </a:solidFill>
              </a:defRPr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16B3AA5-F8D6-AB69-241F-6F8F1DD41E5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85800" y="998185"/>
            <a:ext cx="10813067" cy="541508"/>
          </a:xfrm>
        </p:spPr>
        <p:txBody>
          <a:bodyPr vert="horz" lIns="91440" tIns="45720" rIns="91440" bIns="45720" rtlCol="0">
            <a:normAutofit/>
          </a:bodyPr>
          <a:lstStyle>
            <a:lvl1pPr marL="0" indent="0">
              <a:buNone/>
              <a:defRPr lang="en-US" dirty="0"/>
            </a:lvl1pPr>
          </a:lstStyle>
          <a:p>
            <a:pPr lvl="0"/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16" name="Picture Placeholder 15">
            <a:extLst>
              <a:ext uri="{FF2B5EF4-FFF2-40B4-BE49-F238E27FC236}">
                <a16:creationId xmlns:a16="http://schemas.microsoft.com/office/drawing/2014/main" id="{569E8996-63F9-282F-EB89-823A9E405F96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462974" y="1606318"/>
            <a:ext cx="11268845" cy="4791456"/>
          </a:xfrm>
          <a:blipFill dpi="0" rotWithShape="1">
            <a:blip r:embed="rId2">
              <a:alphaModFix amt="8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AE78127-77D8-DF99-4AE0-F322800B05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40080" y="6445997"/>
            <a:ext cx="3949302" cy="365125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2D04168-7304-004B-C2F6-42E38FDC59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1F7CDA35-5897-4A2A-8C79-713D161389E0}" type="datetimeFigureOut">
              <a:rPr lang="en-US" smtClean="0"/>
              <a:t>7/31/2026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7C58464-EE0F-215A-2FA8-F434687B9E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6193B091-68BE-4CA8-985B-3C4C0320BDFA}" type="slidenum">
              <a:rPr lang="en-US" smtClean="0"/>
              <a:t>‹#›</a:t>
            </a:fld>
            <a:endParaRPr lang="en-US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FFFC4771-5A22-2E68-AB04-0949D0A15B66}"/>
              </a:ext>
            </a:extLst>
          </p:cNvPr>
          <p:cNvCxnSpPr>
            <a:cxnSpLocks/>
          </p:cNvCxnSpPr>
          <p:nvPr/>
        </p:nvCxnSpPr>
        <p:spPr>
          <a:xfrm flipH="1">
            <a:off x="0" y="1599718"/>
            <a:ext cx="12192000" cy="0"/>
          </a:xfrm>
          <a:prstGeom prst="line">
            <a:avLst/>
          </a:prstGeom>
          <a:ln w="9525">
            <a:solidFill>
              <a:schemeClr val="tx2">
                <a:alpha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0AA95C5A-6D75-9E1D-C459-7F2022E84F55}"/>
              </a:ext>
            </a:extLst>
          </p:cNvPr>
          <p:cNvCxnSpPr>
            <a:cxnSpLocks/>
          </p:cNvCxnSpPr>
          <p:nvPr/>
        </p:nvCxnSpPr>
        <p:spPr>
          <a:xfrm>
            <a:off x="457200" y="0"/>
            <a:ext cx="0" cy="6858000"/>
          </a:xfrm>
          <a:prstGeom prst="line">
            <a:avLst/>
          </a:prstGeom>
          <a:ln w="9525">
            <a:solidFill>
              <a:schemeClr val="tx2">
                <a:alpha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00ED5AC1-9F96-A868-7F45-523BF1A45E7C}"/>
              </a:ext>
            </a:extLst>
          </p:cNvPr>
          <p:cNvCxnSpPr>
            <a:cxnSpLocks/>
          </p:cNvCxnSpPr>
          <p:nvPr/>
        </p:nvCxnSpPr>
        <p:spPr>
          <a:xfrm>
            <a:off x="11734800" y="0"/>
            <a:ext cx="0" cy="6858000"/>
          </a:xfrm>
          <a:prstGeom prst="line">
            <a:avLst/>
          </a:prstGeom>
          <a:ln w="9525">
            <a:solidFill>
              <a:schemeClr val="tx2">
                <a:alpha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60E1F764-5B01-7711-9CF1-7EA13A629701}"/>
              </a:ext>
            </a:extLst>
          </p:cNvPr>
          <p:cNvCxnSpPr>
            <a:cxnSpLocks/>
          </p:cNvCxnSpPr>
          <p:nvPr/>
        </p:nvCxnSpPr>
        <p:spPr>
          <a:xfrm flipH="1">
            <a:off x="0" y="6396171"/>
            <a:ext cx="12192000" cy="0"/>
          </a:xfrm>
          <a:prstGeom prst="line">
            <a:avLst/>
          </a:prstGeom>
          <a:ln w="9525">
            <a:solidFill>
              <a:schemeClr val="tx2">
                <a:alpha val="3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21568798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/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58AB8C-6B7B-EBD3-4D71-F5150448D3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360221"/>
            <a:ext cx="10515600" cy="133046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0327223-CF88-A3FD-E8DF-370D7C19B1B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85800" y="2004291"/>
            <a:ext cx="10515600" cy="417267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7E38D70-266E-0D00-4BB2-CEF20A35B7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85800" y="6445997"/>
            <a:ext cx="3949302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DC28223-FDFF-908F-158A-3401127BA5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7CDA35-5897-4A2A-8C79-713D161389E0}" type="datetimeFigureOut">
              <a:rPr lang="en-US" smtClean="0"/>
              <a:t>7/31/2026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A1F0CF0-00B7-2F2A-2E49-88AB87A201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93B091-68BE-4CA8-985B-3C4C0320BDFA}" type="slidenum">
              <a:rPr lang="en-US" smtClean="0"/>
              <a:t>‹#›</a:t>
            </a:fld>
            <a:endParaRPr lang="en-US"/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176D044F-5574-D6D7-2A47-5069E411C22F}"/>
              </a:ext>
            </a:extLst>
          </p:cNvPr>
          <p:cNvCxnSpPr>
            <a:cxnSpLocks/>
          </p:cNvCxnSpPr>
          <p:nvPr/>
        </p:nvCxnSpPr>
        <p:spPr>
          <a:xfrm flipH="1">
            <a:off x="0" y="1825625"/>
            <a:ext cx="12210293" cy="0"/>
          </a:xfrm>
          <a:prstGeom prst="line">
            <a:avLst/>
          </a:prstGeom>
          <a:ln w="9525">
            <a:solidFill>
              <a:schemeClr val="tx2">
                <a:alpha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7700243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with Picture 2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509CE9-F18C-5020-CF43-5960AFE654F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772445" y="1480212"/>
            <a:ext cx="3849131" cy="2871351"/>
          </a:xfrm>
        </p:spPr>
        <p:txBody>
          <a:bodyPr anchor="ctr">
            <a:normAutofit/>
          </a:bodyPr>
          <a:lstStyle>
            <a:lvl1pPr algn="ctr">
              <a:defRPr sz="3600">
                <a:solidFill>
                  <a:schemeClr val="tx2">
                    <a:alpha val="90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16B3AA5-F8D6-AB69-241F-6F8F1DD41E5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772446" y="5410440"/>
            <a:ext cx="3849128" cy="1068207"/>
          </a:xfrm>
        </p:spPr>
        <p:txBody>
          <a:bodyPr anchor="ctr">
            <a:normAutofit/>
          </a:bodyPr>
          <a:lstStyle>
            <a:lvl1pPr marL="0" indent="0" algn="ctr">
              <a:buNone/>
              <a:defRPr sz="180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16" name="Picture Placeholder 15">
            <a:extLst>
              <a:ext uri="{FF2B5EF4-FFF2-40B4-BE49-F238E27FC236}">
                <a16:creationId xmlns:a16="http://schemas.microsoft.com/office/drawing/2014/main" id="{569E8996-63F9-282F-EB89-823A9E405F96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0"/>
            <a:ext cx="7204414" cy="6859634"/>
          </a:xfrm>
          <a:blipFill dpi="0" rotWithShape="1">
            <a:blip r:embed="rId2">
              <a:alphaModFix amt="8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AE78127-77D8-DF99-4AE0-F322800B05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7429501" y="6445997"/>
            <a:ext cx="2955465" cy="365125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2D04168-7304-004B-C2F6-42E38FDC590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0226650" y="6445997"/>
            <a:ext cx="1353059" cy="365125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1F7CDA35-5897-4A2A-8C79-713D161389E0}" type="datetimeFigureOut">
              <a:rPr lang="en-US" smtClean="0"/>
              <a:t>7/31/2026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7C58464-EE0F-215A-2FA8-F434687B9E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6193B091-68BE-4CA8-985B-3C4C0320BDFA}" type="slidenum">
              <a:rPr lang="en-US" smtClean="0"/>
              <a:t>‹#›</a:t>
            </a:fld>
            <a:endParaRPr lang="en-US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88BE003B-9AA9-5AAB-16A3-CC8CD5997AAA}"/>
              </a:ext>
            </a:extLst>
          </p:cNvPr>
          <p:cNvCxnSpPr>
            <a:cxnSpLocks/>
          </p:cNvCxnSpPr>
          <p:nvPr/>
        </p:nvCxnSpPr>
        <p:spPr>
          <a:xfrm flipH="1">
            <a:off x="7206802" y="5031087"/>
            <a:ext cx="4985198" cy="0"/>
          </a:xfrm>
          <a:prstGeom prst="line">
            <a:avLst/>
          </a:prstGeom>
          <a:ln w="9525">
            <a:solidFill>
              <a:schemeClr val="tx2">
                <a:alpha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50CBC2A1-BC50-27CD-C764-435FA7A59ABD}"/>
              </a:ext>
            </a:extLst>
          </p:cNvPr>
          <p:cNvCxnSpPr>
            <a:cxnSpLocks/>
          </p:cNvCxnSpPr>
          <p:nvPr/>
        </p:nvCxnSpPr>
        <p:spPr>
          <a:xfrm>
            <a:off x="7206802" y="0"/>
            <a:ext cx="0" cy="6858000"/>
          </a:xfrm>
          <a:prstGeom prst="line">
            <a:avLst/>
          </a:prstGeom>
          <a:ln w="9525">
            <a:solidFill>
              <a:schemeClr val="tx2">
                <a:alpha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4227769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/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509CE9-F18C-5020-CF43-5960AFE654F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636222" y="1246912"/>
            <a:ext cx="8919556" cy="3050766"/>
          </a:xfrm>
        </p:spPr>
        <p:txBody>
          <a:bodyPr anchor="ctr">
            <a:normAutofit/>
          </a:bodyPr>
          <a:lstStyle>
            <a:lvl1pPr algn="ctr">
              <a:defRPr sz="5400">
                <a:solidFill>
                  <a:schemeClr val="tx2">
                    <a:alpha val="90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16B3AA5-F8D6-AB69-241F-6F8F1DD41E5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451378" y="5345199"/>
            <a:ext cx="7289245" cy="1184035"/>
          </a:xfrm>
        </p:spPr>
        <p:txBody>
          <a:bodyPr anchor="ctr">
            <a:normAutofit/>
          </a:bodyPr>
          <a:lstStyle>
            <a:lvl1pPr marL="0" indent="0" algn="ctr">
              <a:buNone/>
              <a:defRPr sz="180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AE78127-77D8-DF99-4AE0-F322800B05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2D04168-7304-004B-C2F6-42E38FDC59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1F7CDA35-5897-4A2A-8C79-713D161389E0}" type="datetimeFigureOut">
              <a:rPr lang="en-US" smtClean="0"/>
              <a:t>7/31/2026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7C58464-EE0F-215A-2FA8-F434687B9E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6193B091-68BE-4CA8-985B-3C4C0320BDFA}" type="slidenum">
              <a:rPr lang="en-US" smtClean="0"/>
              <a:t>‹#›</a:t>
            </a:fld>
            <a:endParaRPr lang="en-US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77C4A186-7A3C-2849-F4A7-5B5565EB29E6}"/>
              </a:ext>
            </a:extLst>
          </p:cNvPr>
          <p:cNvCxnSpPr>
            <a:cxnSpLocks/>
          </p:cNvCxnSpPr>
          <p:nvPr/>
        </p:nvCxnSpPr>
        <p:spPr>
          <a:xfrm flipH="1">
            <a:off x="0" y="5016433"/>
            <a:ext cx="12192000" cy="0"/>
          </a:xfrm>
          <a:prstGeom prst="line">
            <a:avLst/>
          </a:prstGeom>
          <a:ln w="9525">
            <a:solidFill>
              <a:schemeClr val="tx2">
                <a:alpha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90C7E87E-EC44-47F9-6172-5EEA03DE5D87}"/>
              </a:ext>
            </a:extLst>
          </p:cNvPr>
          <p:cNvCxnSpPr>
            <a:cxnSpLocks/>
          </p:cNvCxnSpPr>
          <p:nvPr/>
        </p:nvCxnSpPr>
        <p:spPr>
          <a:xfrm flipH="1">
            <a:off x="0" y="459932"/>
            <a:ext cx="12192000" cy="0"/>
          </a:xfrm>
          <a:prstGeom prst="line">
            <a:avLst/>
          </a:prstGeom>
          <a:ln w="9525">
            <a:solidFill>
              <a:schemeClr val="tx2">
                <a:alpha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180772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F22D6AD5-6168-B411-89A9-90C82303B25C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4EC6DA0-2CB8-AFC5-DB06-AB92359839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838087"/>
            <a:ext cx="8932653" cy="3312544"/>
          </a:xfrm>
        </p:spPr>
        <p:txBody>
          <a:bodyPr anchor="b">
            <a:normAutofit/>
          </a:bodyPr>
          <a:lstStyle>
            <a:lvl1pPr>
              <a:lnSpc>
                <a:spcPct val="80000"/>
              </a:lnSpc>
              <a:defRPr sz="6600" cap="all" baseline="0">
                <a:solidFill>
                  <a:schemeClr val="tx2">
                    <a:alpha val="5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8E16A9F-28B9-2207-66D3-D952EB7EC87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-789870"/>
            <a:ext cx="10515600" cy="638352"/>
          </a:xfrm>
        </p:spPr>
        <p:txBody>
          <a:bodyPr>
            <a:normAutofit/>
          </a:bodyPr>
          <a:lstStyle>
            <a:lvl1pPr marL="0" indent="0">
              <a:buNone/>
              <a:defRPr sz="2000">
                <a:solidFill>
                  <a:schemeClr val="bg2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8B3F77F-C41D-1011-B9F4-A5DE814F43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57200" y="6445997"/>
            <a:ext cx="3751081" cy="365125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58CD507-925C-84B3-8F49-9F3B91209D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1F7CDA35-5897-4A2A-8C79-713D161389E0}" type="datetimeFigureOut">
              <a:rPr lang="en-US" smtClean="0"/>
              <a:t>7/31/2026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C13B4AE-32E8-CAFF-4A3C-6CBE4FFFA8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6193B091-68BE-4CA8-985B-3C4C0320BDFA}" type="slidenum">
              <a:rPr lang="en-US" smtClean="0"/>
              <a:t>‹#›</a:t>
            </a:fld>
            <a:endParaRPr lang="en-US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9BFA0DE8-9E4B-D747-CB64-14B8DEDC02EA}"/>
              </a:ext>
            </a:extLst>
          </p:cNvPr>
          <p:cNvCxnSpPr>
            <a:cxnSpLocks/>
          </p:cNvCxnSpPr>
          <p:nvPr/>
        </p:nvCxnSpPr>
        <p:spPr>
          <a:xfrm flipH="1">
            <a:off x="0" y="1367580"/>
            <a:ext cx="12192000" cy="0"/>
          </a:xfrm>
          <a:prstGeom prst="line">
            <a:avLst/>
          </a:prstGeom>
          <a:ln w="9525">
            <a:solidFill>
              <a:schemeClr val="tx2">
                <a:alpha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11EB75EB-F27E-271A-C843-4096E1F19057}"/>
              </a:ext>
            </a:extLst>
          </p:cNvPr>
          <p:cNvCxnSpPr>
            <a:cxnSpLocks/>
          </p:cNvCxnSpPr>
          <p:nvPr/>
        </p:nvCxnSpPr>
        <p:spPr>
          <a:xfrm flipH="1">
            <a:off x="0" y="6398068"/>
            <a:ext cx="12192000" cy="0"/>
          </a:xfrm>
          <a:prstGeom prst="line">
            <a:avLst/>
          </a:prstGeom>
          <a:ln w="9525">
            <a:solidFill>
              <a:schemeClr val="tx2">
                <a:alpha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97484976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Agenda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E02D18C4-A1A8-6CA4-B4A2-0E9791DC7F71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2">
              <a:lumMod val="90000"/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E4019F8-742E-9EEF-F591-C9666AC32A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1" y="463362"/>
            <a:ext cx="11122507" cy="1162632"/>
          </a:xfrm>
        </p:spPr>
        <p:txBody>
          <a:bodyPr anchor="ctr">
            <a:normAutofit/>
          </a:bodyPr>
          <a:lstStyle>
            <a:lvl1pPr>
              <a:defRPr sz="7200" cap="all" baseline="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8C8B19A-6FC1-2B71-0BFB-9274CBF396B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479085" y="2249592"/>
            <a:ext cx="6100623" cy="3787062"/>
          </a:xfrm>
        </p:spPr>
        <p:txBody>
          <a:bodyPr vert="horz" lIns="91440" tIns="45720" rIns="91440" bIns="45720" rtlCol="0">
            <a:normAutofit/>
          </a:bodyPr>
          <a:lstStyle>
            <a:lvl1pPr marL="457200" indent="-457200">
              <a:buFont typeface="+mj-lt"/>
              <a:buAutoNum type="arabicPeriod"/>
              <a:defRPr lang="en-US" sz="2000" dirty="0">
                <a:solidFill>
                  <a:schemeClr val="tx2"/>
                </a:solidFill>
              </a:defRPr>
            </a:lvl1pPr>
            <a:lvl2pPr marL="571500" indent="-342900">
              <a:buFont typeface="+mj-lt"/>
              <a:buAutoNum type="arabicPeriod"/>
              <a:defRPr lang="en-US" sz="1800" dirty="0">
                <a:solidFill>
                  <a:schemeClr val="tx2"/>
                </a:solidFill>
              </a:defRPr>
            </a:lvl2pPr>
            <a:lvl3pPr marL="800100" indent="-342900">
              <a:buFont typeface="+mj-lt"/>
              <a:buAutoNum type="arabicPeriod"/>
              <a:defRPr lang="en-US" sz="1600" dirty="0">
                <a:solidFill>
                  <a:schemeClr val="tx2"/>
                </a:solidFill>
              </a:defRPr>
            </a:lvl3pPr>
            <a:lvl4pPr marL="1028700" indent="-342900">
              <a:buFont typeface="+mj-lt"/>
              <a:buAutoNum type="arabicPeriod"/>
              <a:defRPr lang="en-US" sz="1400" dirty="0">
                <a:solidFill>
                  <a:schemeClr val="tx2"/>
                </a:solidFill>
              </a:defRPr>
            </a:lvl4pPr>
            <a:lvl5pPr marL="1257300" indent="-342900">
              <a:buFont typeface="+mj-lt"/>
              <a:buAutoNum type="arabicPeriod"/>
              <a:defRPr lang="en-US" sz="1400" dirty="0">
                <a:solidFill>
                  <a:schemeClr val="tx2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B12CFE6-D05E-5478-B3A4-81DC4DCD74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57200" y="6445997"/>
            <a:ext cx="3949302" cy="365125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CC77F2D-39D2-22F7-CF0B-39D63EBF00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1F7CDA35-5897-4A2A-8C79-713D161389E0}" type="datetimeFigureOut">
              <a:rPr lang="en-US" smtClean="0"/>
              <a:t>7/31/2026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26B86D3-24E1-029E-BA22-9F17F9517D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6193B091-68BE-4CA8-985B-3C4C0320BDFA}" type="slidenum">
              <a:rPr lang="en-US" smtClean="0"/>
              <a:t>‹#›</a:t>
            </a:fld>
            <a:endParaRPr lang="en-US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F06406B2-3637-5849-867E-A0ADC9D9DDA5}"/>
              </a:ext>
            </a:extLst>
          </p:cNvPr>
          <p:cNvCxnSpPr>
            <a:cxnSpLocks/>
          </p:cNvCxnSpPr>
          <p:nvPr/>
        </p:nvCxnSpPr>
        <p:spPr>
          <a:xfrm flipH="1">
            <a:off x="0" y="1822345"/>
            <a:ext cx="12192000" cy="0"/>
          </a:xfrm>
          <a:prstGeom prst="line">
            <a:avLst/>
          </a:prstGeom>
          <a:ln w="12700">
            <a:solidFill>
              <a:schemeClr val="tx1">
                <a:lumMod val="75000"/>
                <a:lumOff val="25000"/>
                <a:alpha val="3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40E47964-42E3-09B6-4B3F-96D1060D072B}"/>
              </a:ext>
            </a:extLst>
          </p:cNvPr>
          <p:cNvCxnSpPr>
            <a:cxnSpLocks/>
          </p:cNvCxnSpPr>
          <p:nvPr/>
        </p:nvCxnSpPr>
        <p:spPr>
          <a:xfrm flipH="1">
            <a:off x="0" y="6398068"/>
            <a:ext cx="12192000" cy="0"/>
          </a:xfrm>
          <a:prstGeom prst="line">
            <a:avLst/>
          </a:prstGeom>
          <a:ln w="9525">
            <a:solidFill>
              <a:schemeClr val="tx1">
                <a:lumMod val="75000"/>
                <a:lumOff val="25000"/>
                <a:alpha val="3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0801019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 with Picture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B0D0A563-F018-FFF1-B911-D69E42CEEAA5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2">
              <a:lumMod val="90000"/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E4019F8-742E-9EEF-F591-C9666AC32A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1" y="463362"/>
            <a:ext cx="11130279" cy="1162632"/>
          </a:xfrm>
        </p:spPr>
        <p:txBody>
          <a:bodyPr anchor="ctr">
            <a:normAutofit/>
          </a:bodyPr>
          <a:lstStyle>
            <a:lvl1pPr>
              <a:defRPr sz="7200" cap="all" baseline="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5DA2B1BE-7DDF-C8B4-6A46-21B5A0257D08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-8364" y="1830708"/>
            <a:ext cx="5321063" cy="4563927"/>
          </a:xfrm>
          <a:blipFill dpi="0" rotWithShape="1">
            <a:blip r:embed="rId2">
              <a:alphaModFix amt="8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8C8B19A-6FC1-2B71-0BFB-9274CBF396B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846552" y="2191025"/>
            <a:ext cx="5733156" cy="3894807"/>
          </a:xfrm>
        </p:spPr>
        <p:txBody>
          <a:bodyPr vert="horz" lIns="91440" tIns="45720" rIns="91440" bIns="45720" rtlCol="0">
            <a:normAutofit/>
          </a:bodyPr>
          <a:lstStyle>
            <a:lvl1pPr marL="457200" indent="-457200">
              <a:buFont typeface="+mj-lt"/>
              <a:buAutoNum type="arabicPeriod"/>
              <a:defRPr lang="en-US" sz="2000" dirty="0">
                <a:solidFill>
                  <a:schemeClr val="tx2"/>
                </a:solidFill>
              </a:defRPr>
            </a:lvl1pPr>
            <a:lvl2pPr marL="571500" indent="-342900">
              <a:buFont typeface="+mj-lt"/>
              <a:buAutoNum type="arabicPeriod"/>
              <a:defRPr lang="en-US" sz="1800" dirty="0">
                <a:solidFill>
                  <a:schemeClr val="tx2"/>
                </a:solidFill>
              </a:defRPr>
            </a:lvl2pPr>
            <a:lvl3pPr marL="800100" indent="-342900">
              <a:buFont typeface="+mj-lt"/>
              <a:buAutoNum type="arabicPeriod"/>
              <a:defRPr lang="en-US" sz="1600" dirty="0">
                <a:solidFill>
                  <a:schemeClr val="tx2"/>
                </a:solidFill>
              </a:defRPr>
            </a:lvl3pPr>
            <a:lvl4pPr marL="1028700" indent="-342900">
              <a:buFont typeface="+mj-lt"/>
              <a:buAutoNum type="arabicPeriod"/>
              <a:defRPr lang="en-US" sz="1400" dirty="0">
                <a:solidFill>
                  <a:schemeClr val="tx2"/>
                </a:solidFill>
              </a:defRPr>
            </a:lvl4pPr>
            <a:lvl5pPr marL="1257300" indent="-342900">
              <a:buFont typeface="+mj-lt"/>
              <a:buAutoNum type="arabicPeriod"/>
              <a:defRPr lang="en-US" sz="1400" dirty="0">
                <a:solidFill>
                  <a:schemeClr val="tx2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B12CFE6-D05E-5478-B3A4-81DC4DCD74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57200" y="6445997"/>
            <a:ext cx="3949302" cy="365125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CC77F2D-39D2-22F7-CF0B-39D63EBF00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1F7CDA35-5897-4A2A-8C79-713D161389E0}" type="datetimeFigureOut">
              <a:rPr lang="en-US" smtClean="0"/>
              <a:t>7/31/2026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26B86D3-24E1-029E-BA22-9F17F9517D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6193B091-68BE-4CA8-985B-3C4C0320BDFA}" type="slidenum">
              <a:rPr lang="en-US" smtClean="0"/>
              <a:t>‹#›</a:t>
            </a:fld>
            <a:endParaRPr lang="en-US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F06406B2-3637-5849-867E-A0ADC9D9DDA5}"/>
              </a:ext>
            </a:extLst>
          </p:cNvPr>
          <p:cNvCxnSpPr>
            <a:cxnSpLocks/>
          </p:cNvCxnSpPr>
          <p:nvPr/>
        </p:nvCxnSpPr>
        <p:spPr>
          <a:xfrm flipH="1">
            <a:off x="0" y="1822345"/>
            <a:ext cx="12192000" cy="0"/>
          </a:xfrm>
          <a:prstGeom prst="line">
            <a:avLst/>
          </a:prstGeom>
          <a:ln w="9525">
            <a:solidFill>
              <a:schemeClr val="tx1">
                <a:lumMod val="75000"/>
                <a:lumOff val="25000"/>
                <a:alpha val="3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40E47964-42E3-09B6-4B3F-96D1060D072B}"/>
              </a:ext>
            </a:extLst>
          </p:cNvPr>
          <p:cNvCxnSpPr>
            <a:cxnSpLocks/>
          </p:cNvCxnSpPr>
          <p:nvPr/>
        </p:nvCxnSpPr>
        <p:spPr>
          <a:xfrm flipH="1">
            <a:off x="0" y="6398068"/>
            <a:ext cx="12192000" cy="0"/>
          </a:xfrm>
          <a:prstGeom prst="line">
            <a:avLst/>
          </a:prstGeom>
          <a:ln w="9525">
            <a:solidFill>
              <a:schemeClr val="tx1">
                <a:lumMod val="75000"/>
                <a:lumOff val="25000"/>
                <a:alpha val="3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25DD64E6-257D-65B2-D2A7-6A1002E1E580}"/>
              </a:ext>
            </a:extLst>
          </p:cNvPr>
          <p:cNvCxnSpPr>
            <a:cxnSpLocks/>
          </p:cNvCxnSpPr>
          <p:nvPr/>
        </p:nvCxnSpPr>
        <p:spPr>
          <a:xfrm>
            <a:off x="5321065" y="1822345"/>
            <a:ext cx="0" cy="5035655"/>
          </a:xfrm>
          <a:prstGeom prst="line">
            <a:avLst/>
          </a:prstGeom>
          <a:ln w="9525">
            <a:solidFill>
              <a:schemeClr val="tx1">
                <a:lumMod val="75000"/>
                <a:lumOff val="25000"/>
                <a:alpha val="3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10776050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ont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58AB8C-6B7B-EBD3-4D71-F5150448D3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721299"/>
            <a:ext cx="3689927" cy="1486906"/>
          </a:xfrm>
        </p:spPr>
        <p:txBody>
          <a:bodyPr anchor="t"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0327223-CF88-A3FD-E8DF-370D7C19B1B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904515" y="2780147"/>
            <a:ext cx="6567049" cy="335987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7E38D70-266E-0D00-4BB2-CEF20A35B7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DC28223-FDFF-908F-158A-3401127BA5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7CDA35-5897-4A2A-8C79-713D161389E0}" type="datetimeFigureOut">
              <a:rPr lang="en-US" smtClean="0"/>
              <a:t>7/31/2026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A1F0CF0-00B7-2F2A-2E49-88AB87A201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93B091-68BE-4CA8-985B-3C4C0320BDFA}" type="slidenum">
              <a:rPr lang="en-US" smtClean="0"/>
              <a:t>‹#›</a:t>
            </a:fld>
            <a:endParaRPr lang="en-US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4BF5C1EC-3A2D-2E51-65A6-6155B3776C4A}"/>
              </a:ext>
            </a:extLst>
          </p:cNvPr>
          <p:cNvCxnSpPr>
            <a:cxnSpLocks/>
          </p:cNvCxnSpPr>
          <p:nvPr/>
        </p:nvCxnSpPr>
        <p:spPr>
          <a:xfrm flipH="1">
            <a:off x="0" y="2397979"/>
            <a:ext cx="12192000" cy="0"/>
          </a:xfrm>
          <a:prstGeom prst="line">
            <a:avLst/>
          </a:prstGeom>
          <a:ln w="9525">
            <a:solidFill>
              <a:schemeClr val="tx2">
                <a:alpha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F797FEE4-9B7E-CE58-4AA3-EC6E3E1861F3}"/>
              </a:ext>
            </a:extLst>
          </p:cNvPr>
          <p:cNvCxnSpPr>
            <a:cxnSpLocks/>
          </p:cNvCxnSpPr>
          <p:nvPr/>
        </p:nvCxnSpPr>
        <p:spPr>
          <a:xfrm>
            <a:off x="4469245" y="0"/>
            <a:ext cx="0" cy="6858000"/>
          </a:xfrm>
          <a:prstGeom prst="line">
            <a:avLst/>
          </a:prstGeom>
          <a:ln w="9525">
            <a:solidFill>
              <a:schemeClr val="tx2">
                <a:alpha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1067226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  <p15:guide id="3" pos="3360">
          <p15:clr>
            <a:srgbClr val="FBAE40"/>
          </p15:clr>
        </p15:guide>
        <p15:guide id="4" pos="2928">
          <p15:clr>
            <a:srgbClr val="FBAE40"/>
          </p15:clr>
        </p15:guide>
        <p15:guide id="5" pos="4752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onten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58AB8C-6B7B-EBD3-4D71-F5150448D3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720473"/>
            <a:ext cx="3664107" cy="3864052"/>
          </a:xfrm>
        </p:spPr>
        <p:txBody>
          <a:bodyPr anchor="t"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0327223-CF88-A3FD-E8DF-370D7C19B1B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70349" y="720473"/>
            <a:ext cx="6309360" cy="530352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7E38D70-266E-0D00-4BB2-CEF20A35B7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DC28223-FDFF-908F-158A-3401127BA5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7CDA35-5897-4A2A-8C79-713D161389E0}" type="datetimeFigureOut">
              <a:rPr lang="en-US" smtClean="0"/>
              <a:t>7/31/2026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A1F0CF0-00B7-2F2A-2E49-88AB87A201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93B091-68BE-4CA8-985B-3C4C0320BDFA}" type="slidenum">
              <a:rPr lang="en-US" smtClean="0"/>
              <a:t>‹#›</a:t>
            </a:fld>
            <a:endParaRPr lang="en-US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A6AC6891-86BE-FF41-E94E-AB97BFFB2322}"/>
              </a:ext>
            </a:extLst>
          </p:cNvPr>
          <p:cNvCxnSpPr>
            <a:cxnSpLocks/>
          </p:cNvCxnSpPr>
          <p:nvPr/>
        </p:nvCxnSpPr>
        <p:spPr>
          <a:xfrm>
            <a:off x="4643464" y="0"/>
            <a:ext cx="0" cy="6858000"/>
          </a:xfrm>
          <a:prstGeom prst="line">
            <a:avLst/>
          </a:prstGeom>
          <a:ln w="9525">
            <a:solidFill>
              <a:schemeClr val="tx2">
                <a:alpha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E151E503-5C8D-3CDA-5CC2-A56B4F2A6193}"/>
              </a:ext>
            </a:extLst>
          </p:cNvPr>
          <p:cNvCxnSpPr>
            <a:cxnSpLocks/>
          </p:cNvCxnSpPr>
          <p:nvPr/>
        </p:nvCxnSpPr>
        <p:spPr>
          <a:xfrm flipH="1">
            <a:off x="0" y="6398068"/>
            <a:ext cx="12192000" cy="0"/>
          </a:xfrm>
          <a:prstGeom prst="line">
            <a:avLst/>
          </a:prstGeom>
          <a:ln w="9525">
            <a:solidFill>
              <a:schemeClr val="tx2">
                <a:alpha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4980325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Content with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58AB8C-6B7B-EBD3-4D71-F5150448D3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11995" y="559483"/>
            <a:ext cx="6825541" cy="1009652"/>
          </a:xfrm>
        </p:spPr>
        <p:txBody>
          <a:bodyPr anchor="b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9" name="Picture Placeholder 18">
            <a:extLst>
              <a:ext uri="{FF2B5EF4-FFF2-40B4-BE49-F238E27FC236}">
                <a16:creationId xmlns:a16="http://schemas.microsoft.com/office/drawing/2014/main" id="{FBB1EB8E-9C26-DC32-8498-7F5998392555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1"/>
            <a:ext cx="4421943" cy="6398066"/>
          </a:xfrm>
          <a:blipFill dpi="0" rotWithShape="1">
            <a:blip r:embed="rId2">
              <a:alphaModFix amt="8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0327223-CF88-A3FD-E8DF-370D7C19B1B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911994" y="2083837"/>
            <a:ext cx="6825545" cy="403250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7E38D70-266E-0D00-4BB2-CEF20A35B7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57200" y="6445997"/>
            <a:ext cx="3811448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DC28223-FDFF-908F-158A-3401127BA5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7CDA35-5897-4A2A-8C79-713D161389E0}" type="datetimeFigureOut">
              <a:rPr lang="en-US" smtClean="0"/>
              <a:t>7/31/2026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A1F0CF0-00B7-2F2A-2E49-88AB87A201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93B091-68BE-4CA8-985B-3C4C0320BDFA}" type="slidenum">
              <a:rPr lang="en-US" smtClean="0"/>
              <a:t>‹#›</a:t>
            </a:fld>
            <a:endParaRPr lang="en-US"/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6EB92977-9D16-C370-F779-0B9C67993046}"/>
              </a:ext>
            </a:extLst>
          </p:cNvPr>
          <p:cNvCxnSpPr>
            <a:cxnSpLocks/>
          </p:cNvCxnSpPr>
          <p:nvPr/>
        </p:nvCxnSpPr>
        <p:spPr>
          <a:xfrm flipH="1">
            <a:off x="0" y="6398068"/>
            <a:ext cx="12192000" cy="0"/>
          </a:xfrm>
          <a:prstGeom prst="line">
            <a:avLst/>
          </a:prstGeom>
          <a:ln w="9525">
            <a:solidFill>
              <a:schemeClr val="tx2">
                <a:alpha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A254AC9C-312D-B8D1-5D04-C0CE07B464DB}"/>
              </a:ext>
            </a:extLst>
          </p:cNvPr>
          <p:cNvCxnSpPr>
            <a:cxnSpLocks/>
          </p:cNvCxnSpPr>
          <p:nvPr/>
        </p:nvCxnSpPr>
        <p:spPr>
          <a:xfrm>
            <a:off x="4423739" y="0"/>
            <a:ext cx="0" cy="6858000"/>
          </a:xfrm>
          <a:prstGeom prst="line">
            <a:avLst/>
          </a:prstGeom>
          <a:ln w="9525">
            <a:solidFill>
              <a:schemeClr val="tx2">
                <a:alpha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0F4F50A3-1136-13EC-E499-F6DDCBFE375F}"/>
              </a:ext>
            </a:extLst>
          </p:cNvPr>
          <p:cNvCxnSpPr>
            <a:cxnSpLocks/>
          </p:cNvCxnSpPr>
          <p:nvPr/>
        </p:nvCxnSpPr>
        <p:spPr>
          <a:xfrm flipH="1">
            <a:off x="4425535" y="1810995"/>
            <a:ext cx="7750205" cy="0"/>
          </a:xfrm>
          <a:prstGeom prst="line">
            <a:avLst/>
          </a:prstGeom>
          <a:ln w="9525">
            <a:solidFill>
              <a:schemeClr val="tx2">
                <a:alpha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6537529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58AB8C-6B7B-EBD3-4D71-F5150448D3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72644" y="669386"/>
            <a:ext cx="7231413" cy="100584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9" name="Picture Placeholder 18">
            <a:extLst>
              <a:ext uri="{FF2B5EF4-FFF2-40B4-BE49-F238E27FC236}">
                <a16:creationId xmlns:a16="http://schemas.microsoft.com/office/drawing/2014/main" id="{FBB1EB8E-9C26-DC32-8498-7F5998392555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-8994" y="-5468"/>
            <a:ext cx="4011836" cy="6398066"/>
          </a:xfrm>
          <a:blipFill dpi="0" rotWithShape="1">
            <a:blip r:embed="rId2">
              <a:alphaModFix amt="8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0327223-CF88-A3FD-E8DF-370D7C19B1B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472644" y="1812385"/>
            <a:ext cx="7231407" cy="442385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7E38D70-266E-0D00-4BB2-CEF20A35B7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57200" y="6445997"/>
            <a:ext cx="3408011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DC28223-FDFF-908F-158A-3401127BA5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7CDA35-5897-4A2A-8C79-713D161389E0}" type="datetimeFigureOut">
              <a:rPr lang="en-US" smtClean="0"/>
              <a:t>7/31/2026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A1F0CF0-00B7-2F2A-2E49-88AB87A201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93B091-68BE-4CA8-985B-3C4C0320BDFA}" type="slidenum">
              <a:rPr lang="en-US" smtClean="0"/>
              <a:t>‹#›</a:t>
            </a:fld>
            <a:endParaRPr lang="en-US"/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6EB92977-9D16-C370-F779-0B9C67993046}"/>
              </a:ext>
            </a:extLst>
          </p:cNvPr>
          <p:cNvCxnSpPr>
            <a:cxnSpLocks/>
          </p:cNvCxnSpPr>
          <p:nvPr/>
        </p:nvCxnSpPr>
        <p:spPr>
          <a:xfrm flipH="1">
            <a:off x="0" y="6398068"/>
            <a:ext cx="12192000" cy="0"/>
          </a:xfrm>
          <a:prstGeom prst="line">
            <a:avLst/>
          </a:prstGeom>
          <a:ln w="9525">
            <a:solidFill>
              <a:schemeClr val="tx2">
                <a:alpha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A254AC9C-312D-B8D1-5D04-C0CE07B464DB}"/>
              </a:ext>
            </a:extLst>
          </p:cNvPr>
          <p:cNvCxnSpPr>
            <a:cxnSpLocks/>
          </p:cNvCxnSpPr>
          <p:nvPr/>
        </p:nvCxnSpPr>
        <p:spPr>
          <a:xfrm>
            <a:off x="4009212" y="0"/>
            <a:ext cx="0" cy="6858000"/>
          </a:xfrm>
          <a:prstGeom prst="line">
            <a:avLst/>
          </a:prstGeom>
          <a:ln w="9525">
            <a:solidFill>
              <a:schemeClr val="tx2">
                <a:alpha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441705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58AB8C-6B7B-EBD3-4D71-F5150448D3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680728"/>
            <a:ext cx="7281067" cy="100584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0327223-CF88-A3FD-E8DF-370D7C19B1B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823728"/>
            <a:ext cx="7281061" cy="442385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9" name="Picture Placeholder 18">
            <a:extLst>
              <a:ext uri="{FF2B5EF4-FFF2-40B4-BE49-F238E27FC236}">
                <a16:creationId xmlns:a16="http://schemas.microsoft.com/office/drawing/2014/main" id="{FBB1EB8E-9C26-DC32-8498-7F5998392555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8195489" y="-6369"/>
            <a:ext cx="3996512" cy="6398066"/>
          </a:xfrm>
          <a:blipFill dpi="0" rotWithShape="1">
            <a:blip r:embed="rId2">
              <a:alphaModFix amt="8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7E38D70-266E-0D00-4BB2-CEF20A35B7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57200" y="6445997"/>
            <a:ext cx="3949302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DC28223-FDFF-908F-158A-3401127BA5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7CDA35-5897-4A2A-8C79-713D161389E0}" type="datetimeFigureOut">
              <a:rPr lang="en-US" smtClean="0"/>
              <a:t>7/31/2026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A1F0CF0-00B7-2F2A-2E49-88AB87A201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93B091-68BE-4CA8-985B-3C4C0320BDFA}" type="slidenum">
              <a:rPr lang="en-US" smtClean="0"/>
              <a:t>‹#›</a:t>
            </a:fld>
            <a:endParaRPr lang="en-US"/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6EB92977-9D16-C370-F779-0B9C67993046}"/>
              </a:ext>
            </a:extLst>
          </p:cNvPr>
          <p:cNvCxnSpPr>
            <a:cxnSpLocks/>
          </p:cNvCxnSpPr>
          <p:nvPr/>
        </p:nvCxnSpPr>
        <p:spPr>
          <a:xfrm flipH="1">
            <a:off x="0" y="6398068"/>
            <a:ext cx="12192000" cy="0"/>
          </a:xfrm>
          <a:prstGeom prst="line">
            <a:avLst/>
          </a:prstGeom>
          <a:ln w="9525">
            <a:solidFill>
              <a:schemeClr val="tx2">
                <a:alpha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A254AC9C-312D-B8D1-5D04-C0CE07B464DB}"/>
              </a:ext>
            </a:extLst>
          </p:cNvPr>
          <p:cNvCxnSpPr>
            <a:cxnSpLocks/>
          </p:cNvCxnSpPr>
          <p:nvPr/>
        </p:nvCxnSpPr>
        <p:spPr>
          <a:xfrm>
            <a:off x="8188287" y="0"/>
            <a:ext cx="0" cy="6858000"/>
          </a:xfrm>
          <a:prstGeom prst="line">
            <a:avLst/>
          </a:prstGeom>
          <a:ln w="9525">
            <a:solidFill>
              <a:schemeClr val="tx2">
                <a:alpha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2702015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58AB8C-6B7B-EBD3-4D71-F5150448D3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678485"/>
            <a:ext cx="6369370" cy="100584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0327223-CF88-A3FD-E8DF-370D7C19B1B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821484"/>
            <a:ext cx="6360897" cy="429218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9" name="Picture Placeholder 18">
            <a:extLst>
              <a:ext uri="{FF2B5EF4-FFF2-40B4-BE49-F238E27FC236}">
                <a16:creationId xmlns:a16="http://schemas.microsoft.com/office/drawing/2014/main" id="{FBB1EB8E-9C26-DC32-8498-7F5998392555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7277100" y="-8466"/>
            <a:ext cx="4914895" cy="6398066"/>
          </a:xfrm>
          <a:blipFill dpi="0" rotWithShape="1">
            <a:blip r:embed="rId2">
              <a:alphaModFix amt="8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7E38D70-266E-0D00-4BB2-CEF20A35B7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57200" y="6445997"/>
            <a:ext cx="3949302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DC28223-FDFF-908F-158A-3401127BA5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7CDA35-5897-4A2A-8C79-713D161389E0}" type="datetimeFigureOut">
              <a:rPr lang="en-US" smtClean="0"/>
              <a:t>7/31/2026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A1F0CF0-00B7-2F2A-2E49-88AB87A201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93B091-68BE-4CA8-985B-3C4C0320BDFA}" type="slidenum">
              <a:rPr lang="en-US" smtClean="0"/>
              <a:t>‹#›</a:t>
            </a:fld>
            <a:endParaRPr lang="en-US"/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6EB92977-9D16-C370-F779-0B9C67993046}"/>
              </a:ext>
            </a:extLst>
          </p:cNvPr>
          <p:cNvCxnSpPr>
            <a:cxnSpLocks/>
          </p:cNvCxnSpPr>
          <p:nvPr/>
        </p:nvCxnSpPr>
        <p:spPr>
          <a:xfrm flipH="1">
            <a:off x="0" y="6398068"/>
            <a:ext cx="12192000" cy="0"/>
          </a:xfrm>
          <a:prstGeom prst="line">
            <a:avLst/>
          </a:prstGeom>
          <a:ln w="9525">
            <a:solidFill>
              <a:schemeClr val="tx2">
                <a:alpha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A254AC9C-312D-B8D1-5D04-C0CE07B464DB}"/>
              </a:ext>
            </a:extLst>
          </p:cNvPr>
          <p:cNvCxnSpPr>
            <a:cxnSpLocks/>
          </p:cNvCxnSpPr>
          <p:nvPr/>
        </p:nvCxnSpPr>
        <p:spPr>
          <a:xfrm>
            <a:off x="7270008" y="0"/>
            <a:ext cx="0" cy="6858000"/>
          </a:xfrm>
          <a:prstGeom prst="line">
            <a:avLst/>
          </a:prstGeom>
          <a:ln w="9525">
            <a:solidFill>
              <a:schemeClr val="tx2">
                <a:alpha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7776043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58AB8C-6B7B-EBD3-4D71-F5150448D3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458145"/>
            <a:ext cx="4000497" cy="1679799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0327223-CF88-A3FD-E8DF-370D7C19B1B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2272880"/>
            <a:ext cx="4000497" cy="378949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9" name="Picture Placeholder 18">
            <a:extLst>
              <a:ext uri="{FF2B5EF4-FFF2-40B4-BE49-F238E27FC236}">
                <a16:creationId xmlns:a16="http://schemas.microsoft.com/office/drawing/2014/main" id="{FBB1EB8E-9C26-DC32-8498-7F5998392555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4853323" y="0"/>
            <a:ext cx="7338676" cy="6396281"/>
          </a:xfrm>
          <a:blipFill dpi="0" rotWithShape="1">
            <a:blip r:embed="rId2">
              <a:alphaModFix amt="8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7E38D70-266E-0D00-4BB2-CEF20A35B7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57200" y="6445997"/>
            <a:ext cx="4000500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DC28223-FDFF-908F-158A-3401127BA5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7CDA35-5897-4A2A-8C79-713D161389E0}" type="datetimeFigureOut">
              <a:rPr lang="en-US" smtClean="0"/>
              <a:t>7/31/2026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A1F0CF0-00B7-2F2A-2E49-88AB87A201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93B091-68BE-4CA8-985B-3C4C0320BDFA}" type="slidenum">
              <a:rPr lang="en-US" smtClean="0"/>
              <a:t>‹#›</a:t>
            </a:fld>
            <a:endParaRPr lang="en-US"/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6EB92977-9D16-C370-F779-0B9C67993046}"/>
              </a:ext>
            </a:extLst>
          </p:cNvPr>
          <p:cNvCxnSpPr>
            <a:cxnSpLocks/>
          </p:cNvCxnSpPr>
          <p:nvPr/>
        </p:nvCxnSpPr>
        <p:spPr>
          <a:xfrm flipH="1">
            <a:off x="0" y="6399854"/>
            <a:ext cx="12192000" cy="0"/>
          </a:xfrm>
          <a:prstGeom prst="line">
            <a:avLst/>
          </a:prstGeom>
          <a:ln w="9525">
            <a:solidFill>
              <a:schemeClr val="tx2">
                <a:alpha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A254AC9C-312D-B8D1-5D04-C0CE07B464DB}"/>
              </a:ext>
            </a:extLst>
          </p:cNvPr>
          <p:cNvCxnSpPr>
            <a:cxnSpLocks/>
          </p:cNvCxnSpPr>
          <p:nvPr/>
        </p:nvCxnSpPr>
        <p:spPr>
          <a:xfrm>
            <a:off x="4849331" y="0"/>
            <a:ext cx="0" cy="6858000"/>
          </a:xfrm>
          <a:prstGeom prst="line">
            <a:avLst/>
          </a:prstGeom>
          <a:ln w="9525">
            <a:solidFill>
              <a:schemeClr val="tx2">
                <a:alpha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84023339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58AB8C-6B7B-EBD3-4D71-F5150448D3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739922" y="458144"/>
            <a:ext cx="3909536" cy="148587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9" name="Picture Placeholder 18">
            <a:extLst>
              <a:ext uri="{FF2B5EF4-FFF2-40B4-BE49-F238E27FC236}">
                <a16:creationId xmlns:a16="http://schemas.microsoft.com/office/drawing/2014/main" id="{FBB1EB8E-9C26-DC32-8498-7F5998392555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0"/>
            <a:ext cx="7268396" cy="6396281"/>
          </a:xfrm>
          <a:blipFill dpi="0" rotWithShape="1">
            <a:blip r:embed="rId2">
              <a:alphaModFix amt="8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0327223-CF88-A3FD-E8DF-370D7C19B1B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39922" y="2463789"/>
            <a:ext cx="3909534" cy="356109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7E38D70-266E-0D00-4BB2-CEF20A35B7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57200" y="6445997"/>
            <a:ext cx="3949302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DC28223-FDFF-908F-158A-3401127BA5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7CDA35-5897-4A2A-8C79-713D161389E0}" type="datetimeFigureOut">
              <a:rPr lang="en-US" smtClean="0"/>
              <a:t>7/31/2026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A1F0CF0-00B7-2F2A-2E49-88AB87A201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93B091-68BE-4CA8-985B-3C4C0320BDFA}" type="slidenum">
              <a:rPr lang="en-US" smtClean="0"/>
              <a:t>‹#›</a:t>
            </a:fld>
            <a:endParaRPr lang="en-US"/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6EB92977-9D16-C370-F779-0B9C67993046}"/>
              </a:ext>
            </a:extLst>
          </p:cNvPr>
          <p:cNvCxnSpPr>
            <a:cxnSpLocks/>
          </p:cNvCxnSpPr>
          <p:nvPr/>
        </p:nvCxnSpPr>
        <p:spPr>
          <a:xfrm flipH="1">
            <a:off x="0" y="6399854"/>
            <a:ext cx="12192000" cy="0"/>
          </a:xfrm>
          <a:prstGeom prst="line">
            <a:avLst/>
          </a:prstGeom>
          <a:ln w="9525">
            <a:solidFill>
              <a:schemeClr val="tx2">
                <a:alpha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BA67EAFE-BA64-2156-9780-AA400F6F3026}"/>
              </a:ext>
            </a:extLst>
          </p:cNvPr>
          <p:cNvCxnSpPr>
            <a:cxnSpLocks/>
          </p:cNvCxnSpPr>
          <p:nvPr/>
        </p:nvCxnSpPr>
        <p:spPr>
          <a:xfrm>
            <a:off x="7271347" y="0"/>
            <a:ext cx="0" cy="6858000"/>
          </a:xfrm>
          <a:prstGeom prst="line">
            <a:avLst/>
          </a:prstGeom>
          <a:ln w="9525">
            <a:solidFill>
              <a:schemeClr val="tx2">
                <a:alpha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854F2342-86AA-3EA4-EB3B-2DB8D68315E6}"/>
              </a:ext>
            </a:extLst>
          </p:cNvPr>
          <p:cNvCxnSpPr>
            <a:cxnSpLocks/>
          </p:cNvCxnSpPr>
          <p:nvPr/>
        </p:nvCxnSpPr>
        <p:spPr>
          <a:xfrm flipH="1">
            <a:off x="7227420" y="2212509"/>
            <a:ext cx="4935320" cy="0"/>
          </a:xfrm>
          <a:prstGeom prst="line">
            <a:avLst/>
          </a:prstGeom>
          <a:ln w="9525">
            <a:solidFill>
              <a:schemeClr val="tx2">
                <a:alpha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92267931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58AB8C-6B7B-EBD3-4D71-F5150448D3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199" y="3959530"/>
            <a:ext cx="3512409" cy="2199864"/>
          </a:xfrm>
        </p:spPr>
        <p:txBody>
          <a:bodyPr anchor="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5" name="Picture Placeholder 14">
            <a:extLst>
              <a:ext uri="{FF2B5EF4-FFF2-40B4-BE49-F238E27FC236}">
                <a16:creationId xmlns:a16="http://schemas.microsoft.com/office/drawing/2014/main" id="{3B441162-7125-E1E0-1B82-FCC1AB84227E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-857" y="-1"/>
            <a:ext cx="12192000" cy="3648977"/>
          </a:xfrm>
          <a:blipFill dpi="0" rotWithShape="1">
            <a:blip r:embed="rId2">
              <a:alphaModFix amt="8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0327223-CF88-A3FD-E8DF-370D7C19B1B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723613" y="3959529"/>
            <a:ext cx="7011183" cy="236954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7E38D70-266E-0D00-4BB2-CEF20A35B7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57201" y="6445997"/>
            <a:ext cx="3543299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DC28223-FDFF-908F-158A-3401127BA5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7CDA35-5897-4A2A-8C79-713D161389E0}" type="datetimeFigureOut">
              <a:rPr lang="en-US" smtClean="0"/>
              <a:t>7/31/2026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A1F0CF0-00B7-2F2A-2E49-88AB87A201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93B091-68BE-4CA8-985B-3C4C0320BDFA}" type="slidenum">
              <a:rPr lang="en-US" smtClean="0"/>
              <a:t>‹#›</a:t>
            </a:fld>
            <a:endParaRPr lang="en-US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2FF81FBD-8D67-B5E4-E22E-74E98EF89F80}"/>
              </a:ext>
            </a:extLst>
          </p:cNvPr>
          <p:cNvCxnSpPr>
            <a:cxnSpLocks/>
          </p:cNvCxnSpPr>
          <p:nvPr/>
        </p:nvCxnSpPr>
        <p:spPr>
          <a:xfrm>
            <a:off x="4290210" y="3648976"/>
            <a:ext cx="0" cy="3209024"/>
          </a:xfrm>
          <a:prstGeom prst="line">
            <a:avLst/>
          </a:prstGeom>
          <a:ln w="9525">
            <a:solidFill>
              <a:schemeClr val="tx2">
                <a:alpha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78892870-1B48-2935-21E8-3BC6F474C661}"/>
              </a:ext>
            </a:extLst>
          </p:cNvPr>
          <p:cNvCxnSpPr>
            <a:cxnSpLocks/>
          </p:cNvCxnSpPr>
          <p:nvPr/>
        </p:nvCxnSpPr>
        <p:spPr>
          <a:xfrm flipH="1">
            <a:off x="-857" y="3654706"/>
            <a:ext cx="12192000" cy="0"/>
          </a:xfrm>
          <a:prstGeom prst="line">
            <a:avLst/>
          </a:prstGeom>
          <a:ln w="9525">
            <a:solidFill>
              <a:schemeClr val="tx2">
                <a:alpha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27476554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58AB8C-6B7B-EBD3-4D71-F5150448D3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199" y="377072"/>
            <a:ext cx="4958078" cy="1225485"/>
          </a:xfrm>
        </p:spPr>
        <p:txBody>
          <a:bodyPr anchor="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9" name="Picture Placeholder 18">
            <a:extLst>
              <a:ext uri="{FF2B5EF4-FFF2-40B4-BE49-F238E27FC236}">
                <a16:creationId xmlns:a16="http://schemas.microsoft.com/office/drawing/2014/main" id="{FBB1EB8E-9C26-DC32-8498-7F5998392555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1842182"/>
            <a:ext cx="5758172" cy="4546457"/>
          </a:xfrm>
          <a:blipFill dpi="0" rotWithShape="1">
            <a:blip r:embed="rId2">
              <a:alphaModFix amt="8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0327223-CF88-A3FD-E8DF-370D7C19B1B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76142" y="377072"/>
            <a:ext cx="5558655" cy="579748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7E38D70-266E-0D00-4BB2-CEF20A35B7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57200" y="6445997"/>
            <a:ext cx="3949302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DC28223-FDFF-908F-158A-3401127BA5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7CDA35-5897-4A2A-8C79-713D161389E0}" type="datetimeFigureOut">
              <a:rPr lang="en-US" smtClean="0"/>
              <a:t>7/31/2026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A1F0CF0-00B7-2F2A-2E49-88AB87A201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93B091-68BE-4CA8-985B-3C4C0320BDFA}" type="slidenum">
              <a:rPr lang="en-US" smtClean="0"/>
              <a:t>‹#›</a:t>
            </a:fld>
            <a:endParaRPr lang="en-US"/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6EB92977-9D16-C370-F779-0B9C67993046}"/>
              </a:ext>
            </a:extLst>
          </p:cNvPr>
          <p:cNvCxnSpPr>
            <a:cxnSpLocks/>
          </p:cNvCxnSpPr>
          <p:nvPr/>
        </p:nvCxnSpPr>
        <p:spPr>
          <a:xfrm flipH="1">
            <a:off x="0" y="6398068"/>
            <a:ext cx="12192000" cy="0"/>
          </a:xfrm>
          <a:prstGeom prst="line">
            <a:avLst/>
          </a:prstGeom>
          <a:ln w="9525">
            <a:solidFill>
              <a:schemeClr val="tx2">
                <a:alpha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B57362BC-3CD1-D6F5-CB9B-B2AAD7EAD176}"/>
              </a:ext>
            </a:extLst>
          </p:cNvPr>
          <p:cNvCxnSpPr>
            <a:cxnSpLocks/>
          </p:cNvCxnSpPr>
          <p:nvPr/>
        </p:nvCxnSpPr>
        <p:spPr>
          <a:xfrm>
            <a:off x="5758174" y="0"/>
            <a:ext cx="0" cy="6858000"/>
          </a:xfrm>
          <a:prstGeom prst="line">
            <a:avLst/>
          </a:prstGeom>
          <a:ln w="9525">
            <a:solidFill>
              <a:schemeClr val="tx2">
                <a:alpha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0F4F50A3-1136-13EC-E499-F6DDCBFE375F}"/>
              </a:ext>
            </a:extLst>
          </p:cNvPr>
          <p:cNvCxnSpPr>
            <a:cxnSpLocks/>
          </p:cNvCxnSpPr>
          <p:nvPr/>
        </p:nvCxnSpPr>
        <p:spPr>
          <a:xfrm flipH="1">
            <a:off x="0" y="1842182"/>
            <a:ext cx="5758174" cy="0"/>
          </a:xfrm>
          <a:prstGeom prst="line">
            <a:avLst/>
          </a:prstGeom>
          <a:ln w="9525">
            <a:solidFill>
              <a:schemeClr val="tx2">
                <a:alpha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75751788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58AB8C-6B7B-EBD3-4D71-F5150448D3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1" y="4407360"/>
            <a:ext cx="3543299" cy="1732820"/>
          </a:xfrm>
        </p:spPr>
        <p:txBody>
          <a:bodyPr anchor="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9" name="Picture Placeholder 18">
            <a:extLst>
              <a:ext uri="{FF2B5EF4-FFF2-40B4-BE49-F238E27FC236}">
                <a16:creationId xmlns:a16="http://schemas.microsoft.com/office/drawing/2014/main" id="{FBB1EB8E-9C26-DC32-8498-7F5998392555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1" y="466598"/>
            <a:ext cx="4460008" cy="3601433"/>
          </a:xfrm>
          <a:blipFill dpi="0" rotWithShape="1">
            <a:blip r:embed="rId2">
              <a:alphaModFix amt="8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0327223-CF88-A3FD-E8DF-370D7C19B1B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892635" y="788704"/>
            <a:ext cx="6730614" cy="538585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7E38D70-266E-0D00-4BB2-CEF20A35B7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57200" y="6445997"/>
            <a:ext cx="3543300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DC28223-FDFF-908F-158A-3401127BA5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7CDA35-5897-4A2A-8C79-713D161389E0}" type="datetimeFigureOut">
              <a:rPr lang="en-US" smtClean="0"/>
              <a:t>7/31/2026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A1F0CF0-00B7-2F2A-2E49-88AB87A201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93B091-68BE-4CA8-985B-3C4C0320BDFA}" type="slidenum">
              <a:rPr lang="en-US" smtClean="0"/>
              <a:t>‹#›</a:t>
            </a:fld>
            <a:endParaRPr lang="en-US"/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6EB92977-9D16-C370-F779-0B9C67993046}"/>
              </a:ext>
            </a:extLst>
          </p:cNvPr>
          <p:cNvCxnSpPr>
            <a:cxnSpLocks/>
          </p:cNvCxnSpPr>
          <p:nvPr/>
        </p:nvCxnSpPr>
        <p:spPr>
          <a:xfrm flipH="1">
            <a:off x="0" y="6398068"/>
            <a:ext cx="12192000" cy="0"/>
          </a:xfrm>
          <a:prstGeom prst="line">
            <a:avLst/>
          </a:prstGeom>
          <a:ln w="9525">
            <a:solidFill>
              <a:schemeClr val="tx2">
                <a:alpha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0F4F50A3-1136-13EC-E499-F6DDCBFE375F}"/>
              </a:ext>
            </a:extLst>
          </p:cNvPr>
          <p:cNvCxnSpPr>
            <a:cxnSpLocks/>
          </p:cNvCxnSpPr>
          <p:nvPr/>
        </p:nvCxnSpPr>
        <p:spPr>
          <a:xfrm flipH="1">
            <a:off x="0" y="4068031"/>
            <a:ext cx="4460008" cy="0"/>
          </a:xfrm>
          <a:prstGeom prst="line">
            <a:avLst/>
          </a:prstGeom>
          <a:ln w="9525">
            <a:solidFill>
              <a:schemeClr val="tx2">
                <a:alpha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B57362BC-3CD1-D6F5-CB9B-B2AAD7EAD176}"/>
              </a:ext>
            </a:extLst>
          </p:cNvPr>
          <p:cNvCxnSpPr>
            <a:cxnSpLocks/>
          </p:cNvCxnSpPr>
          <p:nvPr/>
        </p:nvCxnSpPr>
        <p:spPr>
          <a:xfrm>
            <a:off x="4460008" y="0"/>
            <a:ext cx="0" cy="6858000"/>
          </a:xfrm>
          <a:prstGeom prst="line">
            <a:avLst/>
          </a:prstGeom>
          <a:ln w="9525">
            <a:solidFill>
              <a:schemeClr val="tx2">
                <a:alpha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440D58D1-F636-9620-582E-41FBB707092B}"/>
              </a:ext>
            </a:extLst>
          </p:cNvPr>
          <p:cNvCxnSpPr>
            <a:cxnSpLocks/>
          </p:cNvCxnSpPr>
          <p:nvPr/>
        </p:nvCxnSpPr>
        <p:spPr>
          <a:xfrm flipH="1">
            <a:off x="0" y="459932"/>
            <a:ext cx="12192000" cy="0"/>
          </a:xfrm>
          <a:prstGeom prst="line">
            <a:avLst/>
          </a:prstGeom>
          <a:ln w="9525">
            <a:solidFill>
              <a:schemeClr val="tx2">
                <a:alpha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1913407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umber Large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891F6A87-CC7B-D4BD-1F6A-C3948971C39D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B5B8561-D435-07DE-2456-79994CDFB83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188720" y="5264780"/>
            <a:ext cx="9811512" cy="1097280"/>
          </a:xfrm>
        </p:spPr>
        <p:txBody>
          <a:bodyPr vert="horz" lIns="91440" tIns="45720" rIns="91440" bIns="45720" rtlCol="0" anchor="ctr">
            <a:normAutofit/>
          </a:bodyPr>
          <a:lstStyle>
            <a:lvl1pPr algn="ctr">
              <a:lnSpc>
                <a:spcPct val="110000"/>
              </a:lnSpc>
              <a:defRPr lang="en-US" sz="2800" cap="all" spc="100" baseline="0" dirty="0">
                <a:solidFill>
                  <a:schemeClr val="tx2">
                    <a:lumMod val="90000"/>
                  </a:schemeClr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Click to edit Master title styles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A42AC33E-6837-F850-DF64-4475DAA059EE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493776" y="676656"/>
            <a:ext cx="11201400" cy="4206240"/>
          </a:xfrm>
        </p:spPr>
        <p:txBody>
          <a:bodyPr vert="horz" lIns="91440" tIns="45720" rIns="91440" bIns="45720" rtlCol="0" anchor="b">
            <a:normAutofit/>
          </a:bodyPr>
          <a:lstStyle>
            <a:lvl1pPr marL="0" indent="0" algn="ctr">
              <a:lnSpc>
                <a:spcPct val="90000"/>
              </a:lnSpc>
              <a:spcBef>
                <a:spcPts val="0"/>
              </a:spcBef>
              <a:buNone/>
              <a:defRPr lang="en-US" sz="27800" dirty="0">
                <a:solidFill>
                  <a:schemeClr val="tx2">
                    <a:lumMod val="90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##%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43AE6E7-0083-439C-3FBC-ADE4BE86C1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15DF3EE-4BB8-4215-E053-BF3ED1BB9F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1F7CDA35-5897-4A2A-8C79-713D161389E0}" type="datetimeFigureOut">
              <a:rPr lang="en-US" smtClean="0"/>
              <a:t>7/31/2026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AF27A3B-009A-1790-7D93-9A1F6351D8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6193B091-68BE-4CA8-985B-3C4C0320BDFA}" type="slidenum">
              <a:rPr lang="en-US" smtClean="0"/>
              <a:t>‹#›</a:t>
            </a:fld>
            <a:endParaRPr lang="en-US"/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85ADE133-B5D6-A1C0-6BC9-C723D008EC0E}"/>
              </a:ext>
            </a:extLst>
          </p:cNvPr>
          <p:cNvCxnSpPr>
            <a:cxnSpLocks/>
          </p:cNvCxnSpPr>
          <p:nvPr/>
        </p:nvCxnSpPr>
        <p:spPr>
          <a:xfrm flipH="1">
            <a:off x="0" y="5018669"/>
            <a:ext cx="12192000" cy="0"/>
          </a:xfrm>
          <a:prstGeom prst="line">
            <a:avLst/>
          </a:prstGeom>
          <a:ln w="9525">
            <a:solidFill>
              <a:schemeClr val="tx2">
                <a:alpha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06113878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/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tatement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55FB4D75-C478-D736-9A5A-B64DEA241030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7221EB5-8556-FBD7-00D5-D69AC8E7E7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-1133856"/>
            <a:ext cx="10652760" cy="914400"/>
          </a:xfrm>
        </p:spPr>
        <p:txBody>
          <a:bodyPr/>
          <a:lstStyle>
            <a:lvl1pPr>
              <a:defRPr>
                <a:solidFill>
                  <a:schemeClr val="bg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E4E45FF-53F3-89B1-B969-C440DC819EF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693103" y="1493520"/>
            <a:ext cx="8805794" cy="3911600"/>
          </a:xfrm>
        </p:spPr>
        <p:txBody>
          <a:bodyPr anchor="ctr">
            <a:normAutofit/>
          </a:bodyPr>
          <a:lstStyle>
            <a:lvl1pPr marL="0" indent="0" algn="ctr">
              <a:lnSpc>
                <a:spcPct val="110000"/>
              </a:lnSpc>
              <a:buNone/>
              <a:defRPr sz="5400" b="0">
                <a:solidFill>
                  <a:schemeClr val="tx2"/>
                </a:solidFill>
                <a:latin typeface="+mj-lt"/>
              </a:defRPr>
            </a:lvl1pPr>
            <a:lvl2pPr marL="228600" indent="0" algn="ctr">
              <a:lnSpc>
                <a:spcPct val="110000"/>
              </a:lnSpc>
              <a:buNone/>
              <a:defRPr sz="4800" b="0">
                <a:solidFill>
                  <a:schemeClr val="tx2"/>
                </a:solidFill>
                <a:latin typeface="+mj-lt"/>
              </a:defRPr>
            </a:lvl2pPr>
            <a:lvl3pPr marL="457200" indent="0" algn="ctr">
              <a:lnSpc>
                <a:spcPct val="110000"/>
              </a:lnSpc>
              <a:buNone/>
              <a:defRPr sz="4400" b="0">
                <a:solidFill>
                  <a:schemeClr val="tx2"/>
                </a:solidFill>
                <a:latin typeface="+mj-lt"/>
              </a:defRPr>
            </a:lvl3pPr>
            <a:lvl4pPr marL="685800" indent="0" algn="ctr">
              <a:lnSpc>
                <a:spcPct val="110000"/>
              </a:lnSpc>
              <a:buNone/>
              <a:defRPr sz="4000" b="0">
                <a:solidFill>
                  <a:schemeClr val="tx2"/>
                </a:solidFill>
                <a:latin typeface="+mj-lt"/>
              </a:defRPr>
            </a:lvl4pPr>
            <a:lvl5pPr marL="914400" indent="0" algn="ctr">
              <a:lnSpc>
                <a:spcPct val="110000"/>
              </a:lnSpc>
              <a:buNone/>
              <a:defRPr sz="3600" b="0">
                <a:solidFill>
                  <a:schemeClr val="tx2"/>
                </a:solidFill>
                <a:latin typeface="+mj-lt"/>
              </a:defRPr>
            </a:lvl5pPr>
          </a:lstStyle>
          <a:p>
            <a:pPr lvl="0"/>
            <a:r>
              <a:rPr lang="en-US" dirty="0"/>
              <a:t>Click to edit Statement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D56E87B-2252-4382-E6E7-15A81BCC80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40080" y="6445997"/>
            <a:ext cx="3949302" cy="365125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7F688C7-1128-9027-65E4-A17BBE7DDD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1F7CDA35-5897-4A2A-8C79-713D161389E0}" type="datetimeFigureOut">
              <a:rPr lang="en-US" smtClean="0"/>
              <a:t>7/31/2026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C1C6A68-1AC4-7B10-CD66-D67327434E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6193B091-68BE-4CA8-985B-3C4C0320BDFA}" type="slidenum">
              <a:rPr lang="en-US" smtClean="0"/>
              <a:t>‹#›</a:t>
            </a:fld>
            <a:endParaRPr lang="en-US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6C547212-589F-3A5C-2FF7-4E576B86E3A3}"/>
              </a:ext>
            </a:extLst>
          </p:cNvPr>
          <p:cNvCxnSpPr>
            <a:cxnSpLocks/>
          </p:cNvCxnSpPr>
          <p:nvPr/>
        </p:nvCxnSpPr>
        <p:spPr>
          <a:xfrm flipH="1">
            <a:off x="0" y="6398068"/>
            <a:ext cx="12192000" cy="0"/>
          </a:xfrm>
          <a:prstGeom prst="line">
            <a:avLst/>
          </a:prstGeom>
          <a:ln w="9525">
            <a:solidFill>
              <a:schemeClr val="tx2">
                <a:alpha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440E2472-A2D0-B3C4-1592-E709B2EC9AD6}"/>
              </a:ext>
            </a:extLst>
          </p:cNvPr>
          <p:cNvCxnSpPr>
            <a:cxnSpLocks/>
          </p:cNvCxnSpPr>
          <p:nvPr/>
        </p:nvCxnSpPr>
        <p:spPr>
          <a:xfrm>
            <a:off x="457200" y="0"/>
            <a:ext cx="0" cy="6858000"/>
          </a:xfrm>
          <a:prstGeom prst="line">
            <a:avLst/>
          </a:prstGeom>
          <a:ln w="9525">
            <a:solidFill>
              <a:schemeClr val="tx2">
                <a:alpha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2F95E0B8-C6C3-8095-D53F-FB618E39D7CE}"/>
              </a:ext>
            </a:extLst>
          </p:cNvPr>
          <p:cNvCxnSpPr>
            <a:cxnSpLocks/>
          </p:cNvCxnSpPr>
          <p:nvPr/>
        </p:nvCxnSpPr>
        <p:spPr>
          <a:xfrm flipH="1">
            <a:off x="0" y="459932"/>
            <a:ext cx="12192000" cy="0"/>
          </a:xfrm>
          <a:prstGeom prst="line">
            <a:avLst/>
          </a:prstGeom>
          <a:ln w="9525">
            <a:solidFill>
              <a:schemeClr val="tx2">
                <a:alpha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DAD2DF78-237E-1E21-906C-273460F55F55}"/>
              </a:ext>
            </a:extLst>
          </p:cNvPr>
          <p:cNvCxnSpPr>
            <a:cxnSpLocks/>
          </p:cNvCxnSpPr>
          <p:nvPr/>
        </p:nvCxnSpPr>
        <p:spPr>
          <a:xfrm>
            <a:off x="11734800" y="0"/>
            <a:ext cx="0" cy="6858000"/>
          </a:xfrm>
          <a:prstGeom prst="line">
            <a:avLst/>
          </a:prstGeom>
          <a:ln w="9525">
            <a:solidFill>
              <a:schemeClr val="tx2">
                <a:alpha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74747021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947DCC75-46A1-9953-9459-89672E9805A8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1">
              <a:lumMod val="40000"/>
              <a:lumOff val="60000"/>
              <a:alpha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23F0761-EA67-F7D1-62E4-095EADA262F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562100" y="5549186"/>
            <a:ext cx="9199563" cy="653184"/>
          </a:xfrm>
        </p:spPr>
        <p:txBody>
          <a:bodyPr anchor="ctr">
            <a:normAutofit/>
          </a:bodyPr>
          <a:lstStyle>
            <a:lvl1pPr>
              <a:lnSpc>
                <a:spcPct val="120000"/>
              </a:lnSpc>
              <a:defRPr sz="1800" b="1" cap="all" spc="100" baseline="0">
                <a:solidFill>
                  <a:schemeClr val="accent4">
                    <a:lumMod val="75000"/>
                  </a:schemeClr>
                </a:solidFill>
                <a:latin typeface="+mn-lt"/>
              </a:defRPr>
            </a:lvl1pPr>
          </a:lstStyle>
          <a:p>
            <a:r>
              <a:rPr lang="en-US" dirty="0"/>
              <a:t>Quote Author</a:t>
            </a:r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636EB602-83B2-B4EE-7805-FB94B7747666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1562100" y="823913"/>
            <a:ext cx="9199563" cy="3614737"/>
          </a:xfrm>
        </p:spPr>
        <p:txBody>
          <a:bodyPr anchor="ctr">
            <a:normAutofit/>
          </a:bodyPr>
          <a:lstStyle>
            <a:lvl1pPr marL="182880" indent="-182880">
              <a:buNone/>
              <a:defRPr sz="4000">
                <a:solidFill>
                  <a:schemeClr val="accent4">
                    <a:lumMod val="75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Click to edit Quote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54C2DF4-76B6-1299-74E1-66F403C01A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85800" y="6445997"/>
            <a:ext cx="3949302" cy="365125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9A78CD0-57A9-DB86-E3A3-40628E6D68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1F7CDA35-5897-4A2A-8C79-713D161389E0}" type="datetimeFigureOut">
              <a:rPr lang="en-US" smtClean="0"/>
              <a:t>7/31/2026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535CA15-3DFE-125B-C658-77179EDEA2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6193B091-68BE-4CA8-985B-3C4C0320BDFA}" type="slidenum">
              <a:rPr lang="en-US" smtClean="0"/>
              <a:t>‹#›</a:t>
            </a:fld>
            <a:endParaRPr lang="en-US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741338F2-C5CE-45A7-7748-138B348BA1E7}"/>
              </a:ext>
            </a:extLst>
          </p:cNvPr>
          <p:cNvCxnSpPr>
            <a:cxnSpLocks/>
          </p:cNvCxnSpPr>
          <p:nvPr/>
        </p:nvCxnSpPr>
        <p:spPr>
          <a:xfrm>
            <a:off x="457200" y="0"/>
            <a:ext cx="0" cy="6858000"/>
          </a:xfrm>
          <a:prstGeom prst="line">
            <a:avLst/>
          </a:prstGeom>
          <a:ln w="9525">
            <a:solidFill>
              <a:schemeClr val="tx2">
                <a:alpha val="3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A14CFB94-8AB3-65DB-0B12-EC4F7DAAEBF7}"/>
              </a:ext>
            </a:extLst>
          </p:cNvPr>
          <p:cNvCxnSpPr>
            <a:cxnSpLocks/>
          </p:cNvCxnSpPr>
          <p:nvPr/>
        </p:nvCxnSpPr>
        <p:spPr>
          <a:xfrm flipH="1">
            <a:off x="0" y="5043721"/>
            <a:ext cx="12192000" cy="0"/>
          </a:xfrm>
          <a:prstGeom prst="line">
            <a:avLst/>
          </a:prstGeom>
          <a:ln w="9525">
            <a:solidFill>
              <a:schemeClr val="tx2">
                <a:alpha val="3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7205258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C27BF6-CDFA-AAF4-F7FD-F4F8D06FF2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75309"/>
            <a:ext cx="11277600" cy="914400"/>
          </a:xfrm>
        </p:spPr>
        <p:txBody>
          <a:bodyPr anchor="ctr"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EAB1904-05A3-AF54-90B7-8B4E5E9BFC62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455613" y="1677988"/>
            <a:ext cx="5181600" cy="449897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0D15555F-2C1E-04D7-CE37-D06ABFB5685F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6553200" y="1677988"/>
            <a:ext cx="5180013" cy="449897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B108197-F703-726D-4372-C7520052DC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85FAA39-5E1E-3A94-5A04-C36BA19E34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7CDA35-5897-4A2A-8C79-713D161389E0}" type="datetimeFigureOut">
              <a:rPr lang="en-US" smtClean="0"/>
              <a:t>7/31/2026</a:t>
            </a:fld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CE80595-19B6-01B9-FCF5-F94B0C1BBA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93B091-68BE-4CA8-985B-3C4C0320BDFA}" type="slidenum">
              <a:rPr lang="en-US" smtClean="0"/>
              <a:t>‹#›</a:t>
            </a:fld>
            <a:endParaRPr lang="en-US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52C5098A-8A29-951C-ABCF-B4C329C3A94F}"/>
              </a:ext>
            </a:extLst>
          </p:cNvPr>
          <p:cNvCxnSpPr>
            <a:cxnSpLocks/>
          </p:cNvCxnSpPr>
          <p:nvPr/>
        </p:nvCxnSpPr>
        <p:spPr>
          <a:xfrm>
            <a:off x="6096000" y="1362719"/>
            <a:ext cx="0" cy="5490348"/>
          </a:xfrm>
          <a:prstGeom prst="line">
            <a:avLst/>
          </a:prstGeom>
          <a:ln w="9525">
            <a:solidFill>
              <a:schemeClr val="tx2">
                <a:alpha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754A1D01-2B46-73F0-8DC7-926AA95F7DFC}"/>
              </a:ext>
            </a:extLst>
          </p:cNvPr>
          <p:cNvCxnSpPr>
            <a:cxnSpLocks/>
          </p:cNvCxnSpPr>
          <p:nvPr/>
        </p:nvCxnSpPr>
        <p:spPr>
          <a:xfrm flipH="1">
            <a:off x="0" y="1362719"/>
            <a:ext cx="12200040" cy="0"/>
          </a:xfrm>
          <a:prstGeom prst="line">
            <a:avLst/>
          </a:prstGeom>
          <a:ln w="9525">
            <a:solidFill>
              <a:srgbClr val="616867">
                <a:alpha val="45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11916300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5F27A1-B3E2-4312-9475-76586DB132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199" y="276838"/>
            <a:ext cx="11274552" cy="914400"/>
          </a:xfrm>
        </p:spPr>
        <p:txBody>
          <a:bodyPr vert="horz" lIns="91440" tIns="45720" rIns="91440" bIns="45720" rtlCol="0" anchor="ctr">
            <a:normAutofit/>
          </a:bodyPr>
          <a:lstStyle>
            <a:lvl1pPr>
              <a:defRPr lang="en-US" dirty="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5FD6984-5D8F-6F35-3DC2-352D46E7587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57199" y="1475623"/>
            <a:ext cx="5184648" cy="676690"/>
          </a:xfrm>
        </p:spPr>
        <p:txBody>
          <a:bodyPr anchor="ctr">
            <a:normAutofit/>
          </a:bodyPr>
          <a:lstStyle>
            <a:lvl1pPr marL="0" indent="0">
              <a:buNone/>
              <a:defRPr sz="1800" b="0" cap="all" spc="160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9CD5136-48A0-D788-8CE2-627309A00EC8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457200" y="2522538"/>
            <a:ext cx="5178425" cy="380682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807CEA6-7FDB-2A72-485B-D38A79C1826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556248" y="1475622"/>
            <a:ext cx="5184648" cy="676690"/>
          </a:xfrm>
        </p:spPr>
        <p:txBody>
          <a:bodyPr anchor="ctr">
            <a:normAutofit/>
          </a:bodyPr>
          <a:lstStyle>
            <a:lvl1pPr marL="0" indent="0">
              <a:buNone/>
              <a:defRPr sz="1800" b="0" cap="all" spc="160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Content Placeholder 13">
            <a:extLst>
              <a:ext uri="{FF2B5EF4-FFF2-40B4-BE49-F238E27FC236}">
                <a16:creationId xmlns:a16="http://schemas.microsoft.com/office/drawing/2014/main" id="{FC4D723F-4492-3B3B-CE74-0959714EEB14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6556375" y="2522538"/>
            <a:ext cx="5175249" cy="380682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1" name="Footer Placeholder 10">
            <a:extLst>
              <a:ext uri="{FF2B5EF4-FFF2-40B4-BE49-F238E27FC236}">
                <a16:creationId xmlns:a16="http://schemas.microsoft.com/office/drawing/2014/main" id="{3FA108E0-63AE-4B5C-404F-AD0FEC4AB8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0" name="Date Placeholder 9">
            <a:extLst>
              <a:ext uri="{FF2B5EF4-FFF2-40B4-BE49-F238E27FC236}">
                <a16:creationId xmlns:a16="http://schemas.microsoft.com/office/drawing/2014/main" id="{42E2EB77-3CF8-CDC9-D0D4-1AC07FC535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7CDA35-5897-4A2A-8C79-713D161389E0}" type="datetimeFigureOut">
              <a:rPr lang="en-US" smtClean="0"/>
              <a:t>7/31/2026</a:t>
            </a:fld>
            <a:endParaRPr lang="en-US"/>
          </a:p>
        </p:txBody>
      </p:sp>
      <p:sp>
        <p:nvSpPr>
          <p:cNvPr id="15" name="Slide Number Placeholder 14">
            <a:extLst>
              <a:ext uri="{FF2B5EF4-FFF2-40B4-BE49-F238E27FC236}">
                <a16:creationId xmlns:a16="http://schemas.microsoft.com/office/drawing/2014/main" id="{6918C09E-FCA3-F1F6-7408-40D98FCEA9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93B091-68BE-4CA8-985B-3C4C0320BDFA}" type="slidenum">
              <a:rPr lang="en-US" smtClean="0"/>
              <a:t>‹#›</a:t>
            </a:fld>
            <a:endParaRPr lang="en-US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354F547E-1AC1-2FFD-3E17-DC3F25B07823}"/>
              </a:ext>
            </a:extLst>
          </p:cNvPr>
          <p:cNvCxnSpPr>
            <a:cxnSpLocks/>
          </p:cNvCxnSpPr>
          <p:nvPr/>
        </p:nvCxnSpPr>
        <p:spPr>
          <a:xfrm>
            <a:off x="6096000" y="1362719"/>
            <a:ext cx="0" cy="5490348"/>
          </a:xfrm>
          <a:prstGeom prst="line">
            <a:avLst/>
          </a:prstGeom>
          <a:ln w="9525">
            <a:solidFill>
              <a:schemeClr val="tx2">
                <a:alpha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8695E25D-D4B1-2002-F8AB-8B987C1683D9}"/>
              </a:ext>
            </a:extLst>
          </p:cNvPr>
          <p:cNvCxnSpPr>
            <a:cxnSpLocks/>
          </p:cNvCxnSpPr>
          <p:nvPr/>
        </p:nvCxnSpPr>
        <p:spPr>
          <a:xfrm flipH="1">
            <a:off x="0" y="2268129"/>
            <a:ext cx="12192000" cy="0"/>
          </a:xfrm>
          <a:prstGeom prst="line">
            <a:avLst/>
          </a:prstGeom>
          <a:ln w="9525">
            <a:solidFill>
              <a:schemeClr val="tx2">
                <a:alpha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8335EA16-C700-BA75-F075-2E4BC3EAFBE2}"/>
              </a:ext>
            </a:extLst>
          </p:cNvPr>
          <p:cNvCxnSpPr>
            <a:cxnSpLocks/>
          </p:cNvCxnSpPr>
          <p:nvPr/>
        </p:nvCxnSpPr>
        <p:spPr>
          <a:xfrm flipH="1">
            <a:off x="0" y="1362719"/>
            <a:ext cx="12200040" cy="0"/>
          </a:xfrm>
          <a:prstGeom prst="line">
            <a:avLst/>
          </a:prstGeom>
          <a:ln w="9525">
            <a:solidFill>
              <a:srgbClr val="616867">
                <a:alpha val="45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63698739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4552C1-DD73-A90F-46E0-33A4D55801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38F8C10-87B8-01D2-2FEE-DAC41B9CF7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225E57E-7F73-3825-2158-80859BAD43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7CDA35-5897-4A2A-8C79-713D161389E0}" type="datetimeFigureOut">
              <a:rPr lang="en-US" smtClean="0"/>
              <a:t>7/31/2026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7A634BF-792D-AC8C-B0E0-492263401E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93B091-68BE-4CA8-985B-3C4C0320BDF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9173045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pt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151370D-0A93-44DD-E049-EF3265B73F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6FF00A2-5853-30A7-62F5-7C7CB5A221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7CDA35-5897-4A2A-8C79-713D161389E0}" type="datetimeFigureOut">
              <a:rPr lang="en-US" smtClean="0"/>
              <a:t>7/31/2026</a:t>
            </a:fld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D3E97DA-A7DF-E3FF-8937-F6A36D17F5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93B091-68BE-4CA8-985B-3C4C0320BDF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6213470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clusion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05319627-2791-E32D-91B0-857B27F822FB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1034473"/>
            <a:ext cx="11122508" cy="1993399"/>
          </a:xfrm>
        </p:spPr>
        <p:txBody>
          <a:bodyPr anchor="b">
            <a:normAutofit/>
          </a:bodyPr>
          <a:lstStyle>
            <a:lvl1pPr>
              <a:defRPr sz="6000" cap="all" baseline="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053FFEDA-E57B-DF13-2394-A1514E15F85A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57199" y="3528206"/>
            <a:ext cx="11122509" cy="2754253"/>
          </a:xfrm>
        </p:spPr>
        <p:txBody>
          <a:bodyPr vert="horz" lIns="91440" tIns="45720" rIns="91440" bIns="45720" rtlCol="0">
            <a:normAutofit/>
          </a:bodyPr>
          <a:lstStyle>
            <a:lvl1pPr marL="0" indent="0">
              <a:buNone/>
              <a:defRPr lang="en-US" dirty="0">
                <a:solidFill>
                  <a:schemeClr val="tx2"/>
                </a:solidFill>
              </a:defRPr>
            </a:lvl1pPr>
            <a:lvl2pPr marL="228600" indent="0">
              <a:buNone/>
              <a:defRPr lang="en-US" dirty="0">
                <a:solidFill>
                  <a:schemeClr val="tx2"/>
                </a:solidFill>
              </a:defRPr>
            </a:lvl2pPr>
            <a:lvl3pPr marL="457200" indent="0">
              <a:buNone/>
              <a:defRPr lang="en-US" dirty="0">
                <a:solidFill>
                  <a:schemeClr val="tx2"/>
                </a:solidFill>
              </a:defRPr>
            </a:lvl3pPr>
            <a:lvl4pPr marL="685800" indent="0">
              <a:buNone/>
              <a:defRPr lang="en-US" dirty="0">
                <a:solidFill>
                  <a:schemeClr val="tx2"/>
                </a:solidFill>
              </a:defRPr>
            </a:lvl4pPr>
            <a:lvl5pPr marL="914400" indent="0">
              <a:buNone/>
              <a:defRPr lang="en-US" dirty="0">
                <a:solidFill>
                  <a:schemeClr val="tx2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57200" y="6445997"/>
            <a:ext cx="3949302" cy="365125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1F7CDA35-5897-4A2A-8C79-713D161389E0}" type="datetimeFigureOut">
              <a:rPr lang="en-US" smtClean="0"/>
              <a:t>7/31/2026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6193B091-68BE-4CA8-985B-3C4C0320BDFA}" type="slidenum">
              <a:rPr lang="en-US" smtClean="0"/>
              <a:t>‹#›</a:t>
            </a:fld>
            <a:endParaRPr lang="en-US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E2128EF9-7F8A-2F1B-41F7-2CA02A35CCA7}"/>
              </a:ext>
            </a:extLst>
          </p:cNvPr>
          <p:cNvCxnSpPr>
            <a:cxnSpLocks/>
          </p:cNvCxnSpPr>
          <p:nvPr/>
        </p:nvCxnSpPr>
        <p:spPr>
          <a:xfrm flipH="1">
            <a:off x="0" y="3191402"/>
            <a:ext cx="12192000" cy="0"/>
          </a:xfrm>
          <a:prstGeom prst="line">
            <a:avLst/>
          </a:prstGeom>
          <a:ln w="12700">
            <a:solidFill>
              <a:schemeClr val="tx1">
                <a:lumMod val="75000"/>
                <a:lumOff val="25000"/>
                <a:alpha val="3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4613958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Conclusion 2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07CD7571-736E-B4CB-34E0-C8B31B5A98C2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1034473"/>
            <a:ext cx="6768193" cy="1993399"/>
          </a:xfrm>
        </p:spPr>
        <p:txBody>
          <a:bodyPr anchor="b">
            <a:normAutofit/>
          </a:bodyPr>
          <a:lstStyle>
            <a:lvl1pPr>
              <a:defRPr sz="6000" cap="all" baseline="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053FFEDA-E57B-DF13-2394-A1514E15F85A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57200" y="3528206"/>
            <a:ext cx="6768193" cy="1794899"/>
          </a:xfrm>
        </p:spPr>
        <p:txBody>
          <a:bodyPr vert="horz" lIns="91440" tIns="45720" rIns="91440" bIns="45720" rtlCol="0">
            <a:normAutofit/>
          </a:bodyPr>
          <a:lstStyle>
            <a:lvl1pPr marL="0" indent="0">
              <a:buNone/>
              <a:defRPr lang="en-US" dirty="0">
                <a:solidFill>
                  <a:schemeClr val="tx2"/>
                </a:solidFill>
              </a:defRPr>
            </a:lvl1pPr>
            <a:lvl2pPr marL="228600" indent="0">
              <a:buNone/>
              <a:defRPr lang="en-US" dirty="0">
                <a:solidFill>
                  <a:schemeClr val="tx2"/>
                </a:solidFill>
              </a:defRPr>
            </a:lvl2pPr>
            <a:lvl3pPr marL="457200" indent="0">
              <a:buNone/>
              <a:defRPr lang="en-US" dirty="0">
                <a:solidFill>
                  <a:schemeClr val="tx2"/>
                </a:solidFill>
              </a:defRPr>
            </a:lvl3pPr>
            <a:lvl4pPr marL="685800" indent="0">
              <a:buNone/>
              <a:defRPr lang="en-US" dirty="0">
                <a:solidFill>
                  <a:schemeClr val="tx2"/>
                </a:solidFill>
              </a:defRPr>
            </a:lvl4pPr>
            <a:lvl5pPr marL="914400" indent="0">
              <a:buNone/>
              <a:defRPr lang="en-US" dirty="0">
                <a:solidFill>
                  <a:schemeClr val="tx2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57200" y="6445997"/>
            <a:ext cx="3949302" cy="365125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1F7CDA35-5897-4A2A-8C79-713D161389E0}" type="datetimeFigureOut">
              <a:rPr lang="en-US" smtClean="0"/>
              <a:t>7/31/2026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6193B091-68BE-4CA8-985B-3C4C0320BDFA}" type="slidenum">
              <a:rPr lang="en-US" smtClean="0"/>
              <a:t>‹#›</a:t>
            </a:fld>
            <a:endParaRPr lang="en-US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E2128EF9-7F8A-2F1B-41F7-2CA02A35CCA7}"/>
              </a:ext>
            </a:extLst>
          </p:cNvPr>
          <p:cNvCxnSpPr>
            <a:cxnSpLocks/>
          </p:cNvCxnSpPr>
          <p:nvPr/>
        </p:nvCxnSpPr>
        <p:spPr>
          <a:xfrm flipH="1">
            <a:off x="0" y="3191402"/>
            <a:ext cx="12192000" cy="0"/>
          </a:xfrm>
          <a:prstGeom prst="line">
            <a:avLst/>
          </a:prstGeom>
          <a:ln w="12700">
            <a:solidFill>
              <a:schemeClr val="tx1">
                <a:lumMod val="75000"/>
                <a:lumOff val="25000"/>
                <a:alpha val="3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2395371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C57148D-D60C-3359-4AC2-15A43E2217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533401"/>
            <a:ext cx="10515600" cy="1157288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1A8731C-FCAE-A05A-5A11-57005B86ABD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57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4952E70-B2DF-717F-6373-70A688FAD82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57200" y="6445997"/>
            <a:ext cx="394930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25215E5-6146-14C5-665E-EF04630DCB3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9737594" y="6445997"/>
            <a:ext cx="184211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</a:lstStyle>
          <a:p>
            <a:fld id="{1F7CDA35-5897-4A2A-8C79-713D161389E0}" type="datetimeFigureOut">
              <a:rPr lang="en-US" smtClean="0"/>
              <a:t>7/31/2026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0E8FA3A-8706-3F4B-41CC-B024431F620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734800" y="6445997"/>
            <a:ext cx="457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</a:lstStyle>
          <a:p>
            <a:fld id="{6193B091-68BE-4CA8-985B-3C4C0320BDF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1987496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8" r:id="rId1"/>
    <p:sldLayoutId id="2147483719" r:id="rId2"/>
    <p:sldLayoutId id="2147483720" r:id="rId3"/>
    <p:sldLayoutId id="2147483721" r:id="rId4"/>
    <p:sldLayoutId id="2147483722" r:id="rId5"/>
    <p:sldLayoutId id="2147483723" r:id="rId6"/>
    <p:sldLayoutId id="2147483724" r:id="rId7"/>
    <p:sldLayoutId id="2147483725" r:id="rId8"/>
    <p:sldLayoutId id="2147483726" r:id="rId9"/>
    <p:sldLayoutId id="2147483727" r:id="rId10"/>
    <p:sldLayoutId id="2147483728" r:id="rId11"/>
    <p:sldLayoutId id="2147483729" r:id="rId12"/>
    <p:sldLayoutId id="2147483730" r:id="rId13"/>
    <p:sldLayoutId id="2147483731" r:id="rId14"/>
    <p:sldLayoutId id="2147483732" r:id="rId15"/>
    <p:sldLayoutId id="2147483733" r:id="rId16"/>
    <p:sldLayoutId id="2147483734" r:id="rId17"/>
    <p:sldLayoutId id="2147483735" r:id="rId18"/>
    <p:sldLayoutId id="2147483736" r:id="rId19"/>
    <p:sldLayoutId id="2147483737" r:id="rId20"/>
    <p:sldLayoutId id="2147483738" r:id="rId21"/>
    <p:sldLayoutId id="2147483739" r:id="rId22"/>
    <p:sldLayoutId id="2147483740" r:id="rId23"/>
    <p:sldLayoutId id="2147483741" r:id="rId24"/>
    <p:sldLayoutId id="2147483742" r:id="rId25"/>
    <p:sldLayoutId id="2147483743" r:id="rId26"/>
    <p:sldLayoutId id="2147483744" r:id="rId27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200" kern="1200">
          <a:solidFill>
            <a:schemeClr val="tx2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Font typeface="Arial" panose="020B0604020202020204" pitchFamily="34" charset="0"/>
        <a:buChar char="•"/>
        <a:defRPr sz="1800" kern="1200">
          <a:solidFill>
            <a:schemeClr val="tx2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2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2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2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2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>
          <p15:clr>
            <a:srgbClr val="F26B43"/>
          </p15:clr>
        </p15:guide>
        <p15:guide id="2" pos="2808">
          <p15:clr>
            <a:srgbClr val="F26B43"/>
          </p15:clr>
        </p15:guide>
        <p15:guide id="3" pos="4872">
          <p15:clr>
            <a:srgbClr val="F26B43"/>
          </p15:clr>
        </p15:guide>
        <p15:guide id="4" pos="5160">
          <p15:clr>
            <a:srgbClr val="F26B43"/>
          </p15:clr>
        </p15:guide>
        <p15:guide id="5" pos="2520">
          <p15:clr>
            <a:srgbClr val="F26B43"/>
          </p15:clr>
        </p15:guide>
        <p15:guide id="6" pos="4584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Pallabi5200/Civil_Engineering_Data_Science_Project" TargetMode="External"/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25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jpeg"/><Relationship Id="rId1" Type="http://schemas.openxmlformats.org/officeDocument/2006/relationships/slideLayout" Target="../slideLayouts/slideLayout25.xml"/><Relationship Id="rId4" Type="http://schemas.openxmlformats.org/officeDocument/2006/relationships/hyperlink" Target="https://github.com/Pallabi5200/Civil_Engineering_Data_Science_Project" TargetMode="Externa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Pallabi5200/Civil_Engineering_Data_Science_Project" TargetMode="External"/><Relationship Id="rId1" Type="http://schemas.openxmlformats.org/officeDocument/2006/relationships/slideLayout" Target="../slideLayouts/slideLayout25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Pallabi5200/Civil_Engineering_Data_Science_Project" TargetMode="External"/><Relationship Id="rId1" Type="http://schemas.openxmlformats.org/officeDocument/2006/relationships/slideLayout" Target="../slideLayouts/slideLayout25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Pallabi5200/Civil_Engineering_Data_Science_Project" TargetMode="External"/><Relationship Id="rId1" Type="http://schemas.openxmlformats.org/officeDocument/2006/relationships/slideLayout" Target="../slideLayouts/slideLayout25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hyperlink" Target="https://github.com/Pallabi5200/Civil_Engineering_Data_Science_Project" TargetMode="External"/><Relationship Id="rId1" Type="http://schemas.openxmlformats.org/officeDocument/2006/relationships/slideLayout" Target="../slideLayouts/slideLayout25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Pallabi5200/Civil_Engineering_Data_Science_Project" TargetMode="External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5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Pallabi5200/Civil_Engineering_Data_Science_Project" TargetMode="External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5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Pallabi5200/Civil_Engineering_Data_Science_Project" TargetMode="External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5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Pallabi5200/Civil_Engineering_Data_Science_Project" TargetMode="External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5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Pallabi5200/Civil_Engineering_Data_Science_Project" TargetMode="External"/><Relationship Id="rId1" Type="http://schemas.openxmlformats.org/officeDocument/2006/relationships/slideLayout" Target="../slideLayouts/slideLayout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10A7FC8-B2DB-2E82-2BFD-6810D552D14B}"/>
              </a:ext>
            </a:extLst>
          </p:cNvPr>
          <p:cNvSpPr txBox="1"/>
          <p:nvPr/>
        </p:nvSpPr>
        <p:spPr>
          <a:xfrm>
            <a:off x="310896" y="539496"/>
            <a:ext cx="1105509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u="sng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Civil Construction Intelligence &amp; Analytics Engine</a:t>
            </a:r>
            <a:endParaRPr lang="en-US" sz="4000" u="sng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C3F69B2-E44E-9BC5-7C3F-5AB618C07E45}"/>
              </a:ext>
            </a:extLst>
          </p:cNvPr>
          <p:cNvSpPr txBox="1"/>
          <p:nvPr/>
        </p:nvSpPr>
        <p:spPr>
          <a:xfrm>
            <a:off x="382539" y="1325880"/>
            <a:ext cx="6638544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i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End-to-End SQL Analytics, Predictive Machine Learning &amp; Executive Dashboards for EPC Projects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01E6001-C08A-65E5-1F71-6533648A4584}"/>
              </a:ext>
            </a:extLst>
          </p:cNvPr>
          <p:cNvSpPr txBox="1"/>
          <p:nvPr/>
        </p:nvSpPr>
        <p:spPr>
          <a:xfrm>
            <a:off x="493776" y="2532888"/>
            <a:ext cx="371246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Prepared By:</a:t>
            </a:r>
          </a:p>
          <a:p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Pallabi Mukherjee</a:t>
            </a:r>
          </a:p>
        </p:txBody>
      </p:sp>
      <p:pic>
        <p:nvPicPr>
          <p:cNvPr id="7" name="Picture 6" descr="These Energy-Efficient Builders Are Reshaping Construction's Green ...">
            <a:extLst>
              <a:ext uri="{FF2B5EF4-FFF2-40B4-BE49-F238E27FC236}">
                <a16:creationId xmlns:a16="http://schemas.microsoft.com/office/drawing/2014/main" id="{B5709FDD-70FB-FC05-6663-431F16FB7E7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34827" y="2112264"/>
            <a:ext cx="5631165" cy="3216021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4157A759-4423-724E-BA36-5F19B5B77673}"/>
              </a:ext>
            </a:extLst>
          </p:cNvPr>
          <p:cNvSpPr txBox="1"/>
          <p:nvPr/>
        </p:nvSpPr>
        <p:spPr>
          <a:xfrm>
            <a:off x="6172200" y="6193167"/>
            <a:ext cx="801014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Project Repository:</a:t>
            </a:r>
          </a:p>
          <a:p>
            <a:r>
              <a:rPr lang="en-US" sz="1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hlinkClick r:id="rId3"/>
              </a:rPr>
              <a:t>https://github.com/Pallabi5200/Civil_Engineering_Data_Science_Project</a:t>
            </a:r>
            <a:endParaRPr lang="en-US" sz="14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4253411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273BAA7F-179F-9F2B-0ADE-4E8D9452634D}"/>
              </a:ext>
            </a:extLst>
          </p:cNvPr>
          <p:cNvSpPr txBox="1"/>
          <p:nvPr/>
        </p:nvSpPr>
        <p:spPr>
          <a:xfrm>
            <a:off x="3145536" y="210312"/>
            <a:ext cx="557784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b="1" u="sng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Core Industry Challenges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DE758348-0291-4CF6-2D11-6E21CD2A86DB}"/>
              </a:ext>
            </a:extLst>
          </p:cNvPr>
          <p:cNvSpPr/>
          <p:nvPr/>
        </p:nvSpPr>
        <p:spPr>
          <a:xfrm>
            <a:off x="585216" y="864765"/>
            <a:ext cx="6172200" cy="1389887"/>
          </a:xfrm>
          <a:prstGeom prst="roundRect">
            <a:avLst/>
          </a:prstGeom>
          <a:ln/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F17FF6AD-3EF8-7B16-6610-F0CA3EC328CB}"/>
              </a:ext>
            </a:extLst>
          </p:cNvPr>
          <p:cNvSpPr/>
          <p:nvPr/>
        </p:nvSpPr>
        <p:spPr>
          <a:xfrm>
            <a:off x="585216" y="2562935"/>
            <a:ext cx="6172200" cy="1664208"/>
          </a:xfrm>
          <a:prstGeom prst="round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F3B1A811-B521-179C-E074-DECCE9A1BE23}"/>
              </a:ext>
            </a:extLst>
          </p:cNvPr>
          <p:cNvSpPr/>
          <p:nvPr/>
        </p:nvSpPr>
        <p:spPr>
          <a:xfrm>
            <a:off x="521208" y="4471418"/>
            <a:ext cx="6236208" cy="1591056"/>
          </a:xfrm>
          <a:prstGeom prst="round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2EFE5ED-ABBF-14F2-42F2-F2495DD781E5}"/>
              </a:ext>
            </a:extLst>
          </p:cNvPr>
          <p:cNvSpPr txBox="1"/>
          <p:nvPr/>
        </p:nvSpPr>
        <p:spPr>
          <a:xfrm>
            <a:off x="786384" y="943667"/>
            <a:ext cx="41148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u="sng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28-Day Concrete Curing Delay</a:t>
            </a:r>
            <a:endParaRPr lang="en-US" u="sng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354ADBD-5E85-363E-8BC6-0CD712B9E1A3}"/>
              </a:ext>
            </a:extLst>
          </p:cNvPr>
          <p:cNvSpPr txBox="1"/>
          <p:nvPr/>
        </p:nvSpPr>
        <p:spPr>
          <a:xfrm>
            <a:off x="786384" y="1347838"/>
            <a:ext cx="578815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i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Clients hold 5%–10% payment retention for 28 full days waiting for laboratory concrete cube tests, locking up site cash flow.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8981433-A0A3-52D8-86D6-B304433196D1}"/>
              </a:ext>
            </a:extLst>
          </p:cNvPr>
          <p:cNvSpPr txBox="1"/>
          <p:nvPr/>
        </p:nvSpPr>
        <p:spPr>
          <a:xfrm>
            <a:off x="845820" y="2737725"/>
            <a:ext cx="33832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u="sng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Subcontractor Budget Overruns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EA26011-7948-410B-296E-9FD73FA3446F}"/>
              </a:ext>
            </a:extLst>
          </p:cNvPr>
          <p:cNvSpPr txBox="1"/>
          <p:nvPr/>
        </p:nvSpPr>
        <p:spPr>
          <a:xfrm>
            <a:off x="845820" y="3167390"/>
            <a:ext cx="459943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i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Purchase orders issued to sub-contractors often exceed Work Order budget ceilings without early warning.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5C3EBEB-933B-0D09-C29C-7ADE8B402468}"/>
              </a:ext>
            </a:extLst>
          </p:cNvPr>
          <p:cNvSpPr txBox="1"/>
          <p:nvPr/>
        </p:nvSpPr>
        <p:spPr>
          <a:xfrm>
            <a:off x="1005840" y="4590288"/>
            <a:ext cx="305409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u="sng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Paper Register Chaos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AA818C7-58FE-7D4E-613C-081753D074AD}"/>
              </a:ext>
            </a:extLst>
          </p:cNvPr>
          <p:cNvSpPr txBox="1"/>
          <p:nvPr/>
        </p:nvSpPr>
        <p:spPr>
          <a:xfrm>
            <a:off x="1005840" y="5005336"/>
            <a:ext cx="509016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i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Quality lab test results, daily activity logs, and physical defect reports are trapped in handwritten paper notebooks.</a:t>
            </a:r>
          </a:p>
        </p:txBody>
      </p:sp>
      <p:pic>
        <p:nvPicPr>
          <p:cNvPr id="16" name="Picture 15" descr="Concrete Cube Compression Testing Machine - Compression Testing Machine ...">
            <a:extLst>
              <a:ext uri="{FF2B5EF4-FFF2-40B4-BE49-F238E27FC236}">
                <a16:creationId xmlns:a16="http://schemas.microsoft.com/office/drawing/2014/main" id="{BF8920EA-0A86-D177-3B37-5A8AE0C7121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9088" y="304533"/>
            <a:ext cx="3364564" cy="3168284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3D26D430-FC28-5D63-1319-61A041B8F66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9509" y="3780305"/>
            <a:ext cx="3863721" cy="2168248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69C87066-23B6-93D9-35D1-A1754B58A445}"/>
              </a:ext>
            </a:extLst>
          </p:cNvPr>
          <p:cNvSpPr txBox="1"/>
          <p:nvPr/>
        </p:nvSpPr>
        <p:spPr>
          <a:xfrm>
            <a:off x="6693408" y="6291857"/>
            <a:ext cx="801014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Project Repository:</a:t>
            </a:r>
          </a:p>
          <a:p>
            <a:r>
              <a:rPr lang="en-US" sz="1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hlinkClick r:id="rId4"/>
              </a:rPr>
              <a:t>https://github.com/Pallabi5200/Civil_Engineering_Data_Science_Project</a:t>
            </a:r>
            <a:endParaRPr lang="en-US" sz="14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7360379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256A47D-6FB9-6B85-DAF2-14C88526AE41}"/>
              </a:ext>
            </a:extLst>
          </p:cNvPr>
          <p:cNvSpPr txBox="1"/>
          <p:nvPr/>
        </p:nvSpPr>
        <p:spPr>
          <a:xfrm>
            <a:off x="2980944" y="146304"/>
            <a:ext cx="7068312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u="sng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Technical Solution &amp; Business Impact</a:t>
            </a:r>
          </a:p>
          <a:p>
            <a:endParaRPr lang="en-US" sz="3200" b="1" u="sng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863B981B-9148-D090-DFE3-5D98ACDFB116}"/>
              </a:ext>
            </a:extLst>
          </p:cNvPr>
          <p:cNvSpPr/>
          <p:nvPr/>
        </p:nvSpPr>
        <p:spPr>
          <a:xfrm>
            <a:off x="390144" y="1005840"/>
            <a:ext cx="5705856" cy="1152144"/>
          </a:xfrm>
          <a:prstGeom prst="roundRect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655C605F-1694-2D5B-ED19-3799ACB390AE}"/>
              </a:ext>
            </a:extLst>
          </p:cNvPr>
          <p:cNvSpPr/>
          <p:nvPr/>
        </p:nvSpPr>
        <p:spPr>
          <a:xfrm>
            <a:off x="390144" y="2468880"/>
            <a:ext cx="5705856" cy="1289304"/>
          </a:xfrm>
          <a:prstGeom prst="roundRect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12B9452F-F53F-512C-4295-024B48E895AC}"/>
              </a:ext>
            </a:extLst>
          </p:cNvPr>
          <p:cNvSpPr/>
          <p:nvPr/>
        </p:nvSpPr>
        <p:spPr>
          <a:xfrm>
            <a:off x="390144" y="4023360"/>
            <a:ext cx="5705856" cy="1252728"/>
          </a:xfrm>
          <a:prstGeom prst="roundRect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21028934-577C-66E1-487E-7943AA58FBB3}"/>
              </a:ext>
            </a:extLst>
          </p:cNvPr>
          <p:cNvSpPr/>
          <p:nvPr/>
        </p:nvSpPr>
        <p:spPr>
          <a:xfrm>
            <a:off x="6601968" y="950976"/>
            <a:ext cx="5257800" cy="1077218"/>
          </a:xfrm>
          <a:prstGeom prst="roundRect">
            <a:avLst/>
          </a:prstGeom>
          <a:solidFill>
            <a:schemeClr val="accent3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3502EAC8-01F4-1A68-FEC4-746024A09A66}"/>
              </a:ext>
            </a:extLst>
          </p:cNvPr>
          <p:cNvSpPr/>
          <p:nvPr/>
        </p:nvSpPr>
        <p:spPr>
          <a:xfrm>
            <a:off x="6542532" y="2388358"/>
            <a:ext cx="5376672" cy="1289304"/>
          </a:xfrm>
          <a:prstGeom prst="roundRect">
            <a:avLst/>
          </a:prstGeom>
          <a:solidFill>
            <a:schemeClr val="accent3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6FA28E36-8EE6-2DBA-A247-E24D7FEB2A0F}"/>
              </a:ext>
            </a:extLst>
          </p:cNvPr>
          <p:cNvSpPr/>
          <p:nvPr/>
        </p:nvSpPr>
        <p:spPr>
          <a:xfrm>
            <a:off x="6542532" y="4043851"/>
            <a:ext cx="5317236" cy="1252728"/>
          </a:xfrm>
          <a:prstGeom prst="roundRect">
            <a:avLst/>
          </a:prstGeom>
          <a:solidFill>
            <a:schemeClr val="accent3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DB5625D-9A5A-2060-5CFC-11BDF852A2C2}"/>
              </a:ext>
            </a:extLst>
          </p:cNvPr>
          <p:cNvSpPr txBox="1"/>
          <p:nvPr/>
        </p:nvSpPr>
        <p:spPr>
          <a:xfrm>
            <a:off x="601980" y="1022003"/>
            <a:ext cx="313639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u="sng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3NF Relational Database</a:t>
            </a:r>
            <a:endParaRPr lang="en-US" sz="1600" u="sng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8EE4604-A87E-9C0F-8C61-BBCF39ABDC5F}"/>
              </a:ext>
            </a:extLst>
          </p:cNvPr>
          <p:cNvSpPr txBox="1"/>
          <p:nvPr/>
        </p:nvSpPr>
        <p:spPr>
          <a:xfrm>
            <a:off x="509016" y="1321743"/>
            <a:ext cx="5586984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/>
            <a:r>
              <a:rPr lang="en-US" sz="1200" i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Unified 7 paper registers into a central SQLite database (</a:t>
            </a:r>
            <a:r>
              <a:rPr lang="en-US" sz="1200" i="1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construction_project.db</a:t>
            </a:r>
            <a:r>
              <a:rPr lang="en-US" sz="1200" i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).</a:t>
            </a:r>
          </a:p>
          <a:p>
            <a:pPr lvl="0"/>
            <a:r>
              <a:rPr lang="en-US" sz="1200" b="1" i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Automated SQL Financial Engine</a:t>
            </a:r>
            <a:r>
              <a:rPr lang="en-US" sz="1200" i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 Tracked progressive billing using SUM() OVER and flagged vendor overrun risks using CASE WHEN.</a:t>
            </a:r>
          </a:p>
          <a:p>
            <a:endParaRPr lang="en-US" sz="1400" i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F63EDA5-16B3-70F7-CA6B-45C7E6C0B3D0}"/>
              </a:ext>
            </a:extLst>
          </p:cNvPr>
          <p:cNvSpPr txBox="1"/>
          <p:nvPr/>
        </p:nvSpPr>
        <p:spPr>
          <a:xfrm>
            <a:off x="509016" y="2499420"/>
            <a:ext cx="340156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u="sng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Predictive ML Engine</a:t>
            </a:r>
            <a:endParaRPr lang="en-US" sz="1600" u="sng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554F104-FCBF-C59B-BF9B-F975674B098F}"/>
              </a:ext>
            </a:extLst>
          </p:cNvPr>
          <p:cNvSpPr txBox="1"/>
          <p:nvPr/>
        </p:nvSpPr>
        <p:spPr>
          <a:xfrm>
            <a:off x="509016" y="2788134"/>
            <a:ext cx="5480304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 </a:t>
            </a:r>
            <a:r>
              <a:rPr lang="en-US" sz="1200" i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Predicted 28-day concrete strength early using non-destructive sound wave testing (UPV) and Random Forest models.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22C9D58-22B7-4F5E-7ABF-CC102E2A736B}"/>
              </a:ext>
            </a:extLst>
          </p:cNvPr>
          <p:cNvSpPr txBox="1"/>
          <p:nvPr/>
        </p:nvSpPr>
        <p:spPr>
          <a:xfrm>
            <a:off x="758952" y="4114800"/>
            <a:ext cx="398678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u="sng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Interactive Dashboards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594BFFD-32F1-BD00-5DDC-13F487B658CE}"/>
              </a:ext>
            </a:extLst>
          </p:cNvPr>
          <p:cNvSpPr txBox="1"/>
          <p:nvPr/>
        </p:nvSpPr>
        <p:spPr>
          <a:xfrm>
            <a:off x="758952" y="4441531"/>
            <a:ext cx="4817365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 </a:t>
            </a:r>
            <a:r>
              <a:rPr lang="en-US" sz="1200" i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Deployed a live </a:t>
            </a:r>
            <a:r>
              <a:rPr lang="en-US" sz="1200" i="1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Streamlit</a:t>
            </a:r>
            <a:r>
              <a:rPr lang="en-US" sz="1200" i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web app (app.py) for ML serving and a Power BI   Star Schema executive dashboard.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1A1D51D-4421-4FBD-748C-64CDDBB7AA11}"/>
              </a:ext>
            </a:extLst>
          </p:cNvPr>
          <p:cNvSpPr txBox="1"/>
          <p:nvPr/>
        </p:nvSpPr>
        <p:spPr>
          <a:xfrm>
            <a:off x="6839712" y="983189"/>
            <a:ext cx="442569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u="sng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21–28 Days Faster Cash Flow</a:t>
            </a:r>
            <a:endParaRPr lang="en-US" sz="1600" u="sng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32B60C5-C10E-897F-6988-0BFFB1ACB545}"/>
              </a:ext>
            </a:extLst>
          </p:cNvPr>
          <p:cNvSpPr txBox="1"/>
          <p:nvPr/>
        </p:nvSpPr>
        <p:spPr>
          <a:xfrm>
            <a:off x="6839712" y="1290965"/>
            <a:ext cx="513892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i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Accelerated client retention payment collection using early sound wave ML compliance predictions.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BBAC1EE-ECA4-2D88-CF93-C0AA3A97C3EA}"/>
              </a:ext>
            </a:extLst>
          </p:cNvPr>
          <p:cNvSpPr txBox="1"/>
          <p:nvPr/>
        </p:nvSpPr>
        <p:spPr>
          <a:xfrm>
            <a:off x="6839712" y="2486579"/>
            <a:ext cx="340156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sz="1600" u="sng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9A494A91-EB0E-1854-2359-A629ADC30D48}"/>
              </a:ext>
            </a:extLst>
          </p:cNvPr>
          <p:cNvSpPr txBox="1"/>
          <p:nvPr/>
        </p:nvSpPr>
        <p:spPr>
          <a:xfrm>
            <a:off x="6839712" y="2464409"/>
            <a:ext cx="340156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u="sng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100% Budget Overrun Protection</a:t>
            </a:r>
            <a:endParaRPr lang="en-US" sz="1600" u="sng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ECF096A6-302B-5806-63F4-4BE014FF3DC8}"/>
              </a:ext>
            </a:extLst>
          </p:cNvPr>
          <p:cNvSpPr txBox="1"/>
          <p:nvPr/>
        </p:nvSpPr>
        <p:spPr>
          <a:xfrm>
            <a:off x="6839712" y="2811424"/>
            <a:ext cx="5480304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 </a:t>
            </a:r>
            <a:r>
              <a:rPr lang="en-US" sz="1200" i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Automated early risk alerts whenever contractor purchase orders reached 80%+ budget limits.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7E184C24-FF94-5D69-EA5D-3D7154B6D39F}"/>
              </a:ext>
            </a:extLst>
          </p:cNvPr>
          <p:cNvSpPr txBox="1"/>
          <p:nvPr/>
        </p:nvSpPr>
        <p:spPr>
          <a:xfrm>
            <a:off x="6729984" y="4114800"/>
            <a:ext cx="398678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u="sng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100% Concrete Quality Accuracy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EEA61D3D-955B-5AB9-10CA-7B55DA85E80A}"/>
              </a:ext>
            </a:extLst>
          </p:cNvPr>
          <p:cNvSpPr txBox="1"/>
          <p:nvPr/>
        </p:nvSpPr>
        <p:spPr>
          <a:xfrm>
            <a:off x="6601968" y="4455291"/>
            <a:ext cx="481736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 </a:t>
            </a:r>
            <a:r>
              <a:rPr lang="en-US" sz="1200" i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Guaranteed predictive compliance classification on structural concrete.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1E7C06A7-AF71-2EF4-A486-FD9BF5B7A127}"/>
              </a:ext>
            </a:extLst>
          </p:cNvPr>
          <p:cNvSpPr txBox="1"/>
          <p:nvPr/>
        </p:nvSpPr>
        <p:spPr>
          <a:xfrm>
            <a:off x="6236208" y="6188476"/>
            <a:ext cx="801014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Project Repository:</a:t>
            </a:r>
          </a:p>
          <a:p>
            <a:r>
              <a:rPr lang="en-US" sz="1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hlinkClick r:id="rId2"/>
              </a:rPr>
              <a:t>https://github.com/Pallabi5200/Civil_Engineering_Data_Science_Project</a:t>
            </a:r>
            <a:endParaRPr lang="en-US" sz="14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0673843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6B60A69-39D8-3720-2865-FF6369E7D5D5}"/>
              </a:ext>
            </a:extLst>
          </p:cNvPr>
          <p:cNvSpPr txBox="1"/>
          <p:nvPr/>
        </p:nvSpPr>
        <p:spPr>
          <a:xfrm>
            <a:off x="2347275" y="273377"/>
            <a:ext cx="8107051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u="sng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Database Architecture (3NF Relational Model)</a:t>
            </a:r>
          </a:p>
          <a:p>
            <a:endParaRPr lang="en-US" sz="40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DB11A827-C1E7-B75E-934B-B07DE7BA784F}"/>
              </a:ext>
            </a:extLst>
          </p:cNvPr>
          <p:cNvSpPr/>
          <p:nvPr/>
        </p:nvSpPr>
        <p:spPr>
          <a:xfrm>
            <a:off x="405352" y="948929"/>
            <a:ext cx="5410985" cy="873568"/>
          </a:xfrm>
          <a:prstGeom prst="roundRect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C5855F7-1609-390A-61C9-9AC72D938CEF}"/>
              </a:ext>
            </a:extLst>
          </p:cNvPr>
          <p:cNvSpPr txBox="1"/>
          <p:nvPr/>
        </p:nvSpPr>
        <p:spPr>
          <a:xfrm>
            <a:off x="1159496" y="1168896"/>
            <a:ext cx="453429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u="sng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Central Concept &amp; 3NF Benefits</a:t>
            </a:r>
            <a:endParaRPr lang="en-US" sz="2000" u="sng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20B4313-9131-5394-C5A1-41F3D94C517F}"/>
              </a:ext>
            </a:extLst>
          </p:cNvPr>
          <p:cNvSpPr/>
          <p:nvPr/>
        </p:nvSpPr>
        <p:spPr>
          <a:xfrm>
            <a:off x="471339" y="1946135"/>
            <a:ext cx="5279010" cy="3742970"/>
          </a:xfrm>
          <a:prstGeom prst="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332D21C-A7B8-1D20-7D68-AC76945AC8A4}"/>
              </a:ext>
            </a:extLst>
          </p:cNvPr>
          <p:cNvSpPr txBox="1"/>
          <p:nvPr/>
        </p:nvSpPr>
        <p:spPr>
          <a:xfrm>
            <a:off x="658541" y="2042464"/>
            <a:ext cx="313639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u="sng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7 Digital Drawers Analogy</a:t>
            </a:r>
            <a:endParaRPr lang="en-US" sz="1600" u="sng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197D2AB-CA1C-FB6F-8855-93E74AA820E1}"/>
              </a:ext>
            </a:extLst>
          </p:cNvPr>
          <p:cNvSpPr txBox="1"/>
          <p:nvPr/>
        </p:nvSpPr>
        <p:spPr>
          <a:xfrm>
            <a:off x="673348" y="2475232"/>
            <a:ext cx="509990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/>
            <a:r>
              <a:rPr lang="en-US" sz="1200" i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Unified 7 paper site registers into a central SQLite database (</a:t>
            </a:r>
            <a:r>
              <a:rPr lang="en-US" sz="1200" i="1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construction_project.db</a:t>
            </a:r>
            <a:r>
              <a:rPr lang="en-US" sz="1200" i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).</a:t>
            </a:r>
            <a:endParaRPr lang="en-US" sz="1400" i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5D387BD-9555-E5EE-A458-C17BD5DA9D92}"/>
              </a:ext>
            </a:extLst>
          </p:cNvPr>
          <p:cNvSpPr txBox="1"/>
          <p:nvPr/>
        </p:nvSpPr>
        <p:spPr>
          <a:xfrm>
            <a:off x="696249" y="3114000"/>
            <a:ext cx="313639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u="sng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3NF Normalization</a:t>
            </a:r>
            <a:endParaRPr lang="en-US" sz="1600" u="sng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5F1DAB9-0660-3DE5-15BD-30C131EDD2FC}"/>
              </a:ext>
            </a:extLst>
          </p:cNvPr>
          <p:cNvSpPr txBox="1"/>
          <p:nvPr/>
        </p:nvSpPr>
        <p:spPr>
          <a:xfrm>
            <a:off x="696249" y="3551409"/>
            <a:ext cx="509990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/>
            <a:r>
              <a:rPr lang="en-US" sz="1200" i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Eliminated duplicate client, vendor, and site logs across all tables.</a:t>
            </a:r>
            <a:endParaRPr lang="en-US" sz="1400" i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E4E7F8E-4A31-032D-1330-F09996F81F80}"/>
              </a:ext>
            </a:extLst>
          </p:cNvPr>
          <p:cNvSpPr txBox="1"/>
          <p:nvPr/>
        </p:nvSpPr>
        <p:spPr>
          <a:xfrm>
            <a:off x="696249" y="4061125"/>
            <a:ext cx="313639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u="sng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Automated Auditing</a:t>
            </a:r>
            <a:endParaRPr lang="en-US" sz="1600" u="sng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85DCA97-69CC-8960-F4D1-481C23FB58EF}"/>
              </a:ext>
            </a:extLst>
          </p:cNvPr>
          <p:cNvSpPr txBox="1"/>
          <p:nvPr/>
        </p:nvSpPr>
        <p:spPr>
          <a:xfrm>
            <a:off x="716435" y="4540956"/>
            <a:ext cx="509990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/>
            <a:r>
              <a:rPr lang="en-US" sz="1200" i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Indexed key columns for instant SQL financial and quality auditing across 8 active civil sites.</a:t>
            </a:r>
            <a:endParaRPr lang="en-US" sz="1400" i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E106717E-E226-5E69-4C83-5B28CEC9AC05}"/>
              </a:ext>
            </a:extLst>
          </p:cNvPr>
          <p:cNvSpPr/>
          <p:nvPr/>
        </p:nvSpPr>
        <p:spPr>
          <a:xfrm>
            <a:off x="6570482" y="948929"/>
            <a:ext cx="5216166" cy="873568"/>
          </a:xfrm>
          <a:prstGeom prst="round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702B9969-783A-EB0C-E63A-7873B2D2422B}"/>
              </a:ext>
            </a:extLst>
          </p:cNvPr>
          <p:cNvSpPr txBox="1"/>
          <p:nvPr/>
        </p:nvSpPr>
        <p:spPr>
          <a:xfrm>
            <a:off x="6911418" y="1159441"/>
            <a:ext cx="453429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b="1" u="sng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7 Normalized Tables</a:t>
            </a:r>
            <a:endParaRPr lang="en-US" sz="2000" u="sng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0E750AA8-470C-864A-514F-D39E282480F4}"/>
              </a:ext>
            </a:extLst>
          </p:cNvPr>
          <p:cNvSpPr/>
          <p:nvPr/>
        </p:nvSpPr>
        <p:spPr>
          <a:xfrm>
            <a:off x="6645897" y="1997646"/>
            <a:ext cx="5099902" cy="3742970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6805501B-8FFB-33AC-9D22-871E0F6B4C70}"/>
              </a:ext>
            </a:extLst>
          </p:cNvPr>
          <p:cNvSpPr txBox="1"/>
          <p:nvPr/>
        </p:nvSpPr>
        <p:spPr>
          <a:xfrm>
            <a:off x="6750258" y="2149258"/>
            <a:ext cx="4970403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28600" lvl="0" indent="-228600">
              <a:buFont typeface="+mj-lt"/>
              <a:buAutoNum type="arabicPeriod"/>
            </a:pPr>
            <a:r>
              <a:rPr lang="en-US" sz="1200" b="1" u="sng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Projects</a:t>
            </a:r>
            <a:r>
              <a:rPr lang="en-US" sz="1200" i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 Master site metadata, client names, structure types (WTG, Shed, Grouting).</a:t>
            </a:r>
          </a:p>
          <a:p>
            <a:pPr marL="228600" lvl="0" indent="-228600">
              <a:buFont typeface="+mj-lt"/>
              <a:buAutoNum type="arabicPeriod"/>
            </a:pPr>
            <a:endParaRPr lang="en-US" sz="1200" i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228600" lvl="0" indent="-228600">
              <a:buFont typeface="+mj-lt"/>
              <a:buAutoNum type="arabicPeriod"/>
            </a:pPr>
            <a:r>
              <a:rPr lang="en-US" sz="1200" b="1" u="sng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Work_Orders</a:t>
            </a:r>
            <a:r>
              <a:rPr lang="en-US" sz="1200" i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 Master contract agreements &amp; approved budget ceilings.</a:t>
            </a:r>
          </a:p>
          <a:p>
            <a:pPr marL="228600" lvl="0" indent="-228600">
              <a:buFont typeface="+mj-lt"/>
              <a:buAutoNum type="arabicPeriod"/>
            </a:pPr>
            <a:endParaRPr lang="en-US" sz="1200" i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228600" lvl="0" indent="-228600">
              <a:buFont typeface="+mj-lt"/>
              <a:buAutoNum type="arabicPeriod"/>
            </a:pPr>
            <a:r>
              <a:rPr lang="en-US" sz="1200" b="1" u="sng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Purchase_Orders</a:t>
            </a:r>
            <a:r>
              <a:rPr lang="en-US" sz="1200" i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 Subcontractor material orders &amp; vendor commitments.</a:t>
            </a:r>
          </a:p>
          <a:p>
            <a:pPr marL="228600" lvl="0" indent="-228600">
              <a:buFont typeface="+mj-lt"/>
              <a:buAutoNum type="arabicPeriod"/>
            </a:pPr>
            <a:endParaRPr lang="en-US" sz="1200" i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228600" lvl="0" indent="-228600">
              <a:buFont typeface="+mj-lt"/>
              <a:buAutoNum type="arabicPeriod"/>
            </a:pPr>
            <a:r>
              <a:rPr lang="en-US" sz="1200" b="1" u="sng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Tax_Invoices</a:t>
            </a:r>
            <a:r>
              <a:rPr lang="en-US" sz="1200" i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 Client milestone billing, payment dates &amp; net payable amounts.</a:t>
            </a:r>
          </a:p>
          <a:p>
            <a:pPr marL="228600" lvl="0" indent="-228600">
              <a:buFont typeface="+mj-lt"/>
              <a:buAutoNum type="arabicPeriod"/>
            </a:pPr>
            <a:endParaRPr lang="en-US" sz="1200" i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228600" lvl="0" indent="-228600">
              <a:buFont typeface="+mj-lt"/>
              <a:buAutoNum type="arabicPeriod"/>
            </a:pPr>
            <a:r>
              <a:rPr lang="en-US" sz="1200" b="1" u="sng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BOQ_Items</a:t>
            </a:r>
            <a:r>
              <a:rPr lang="en-US" sz="1200" i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 Bill of Quantities unit rates (steel, concrete, excavation, grouting).</a:t>
            </a:r>
          </a:p>
          <a:p>
            <a:pPr marL="228600" lvl="0" indent="-228600">
              <a:buFont typeface="+mj-lt"/>
              <a:buAutoNum type="arabicPeriod"/>
            </a:pPr>
            <a:endParaRPr lang="en-US" sz="1200" i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228600" lvl="0" indent="-228600">
              <a:buFont typeface="+mj-lt"/>
              <a:buAutoNum type="arabicPeriod"/>
            </a:pPr>
            <a:r>
              <a:rPr lang="en-US" sz="1200" b="1" u="sng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Field_Quality_Logs</a:t>
            </a:r>
            <a:r>
              <a:rPr lang="en-US" sz="1200" i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 Concrete compressive strength &amp; Ultrasonic Pulse Velocity sound wave readings.</a:t>
            </a:r>
          </a:p>
          <a:p>
            <a:pPr marL="228600" lvl="0" indent="-228600">
              <a:buFont typeface="+mj-lt"/>
              <a:buAutoNum type="arabicPeriod"/>
            </a:pPr>
            <a:endParaRPr lang="en-US" sz="1200" i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228600" lvl="0" indent="-228600">
              <a:buFont typeface="+mj-lt"/>
              <a:buAutoNum type="arabicPeriod"/>
            </a:pPr>
            <a:r>
              <a:rPr lang="en-US" sz="1200" b="1" u="sng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Damage_Reports</a:t>
            </a:r>
            <a:r>
              <a:rPr lang="en-US" sz="1200" i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 Site defect observations, crack length measurements &amp; 1–5 severity scores.</a:t>
            </a:r>
            <a:endParaRPr lang="en-US" sz="1400" i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206206E1-93DE-BF3C-8C15-64778C022CAF}"/>
              </a:ext>
            </a:extLst>
          </p:cNvPr>
          <p:cNvSpPr txBox="1"/>
          <p:nvPr/>
        </p:nvSpPr>
        <p:spPr>
          <a:xfrm>
            <a:off x="6400800" y="6245037"/>
            <a:ext cx="801014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Project Repository:</a:t>
            </a:r>
          </a:p>
          <a:p>
            <a:r>
              <a:rPr lang="en-US" sz="1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hlinkClick r:id="rId2"/>
              </a:rPr>
              <a:t>https://github.com/Pallabi5200/Civil_Engineering_Data_Science_Project</a:t>
            </a:r>
            <a:endParaRPr lang="en-US" sz="14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786749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Rectangle 40">
            <a:extLst>
              <a:ext uri="{FF2B5EF4-FFF2-40B4-BE49-F238E27FC236}">
                <a16:creationId xmlns:a16="http://schemas.microsoft.com/office/drawing/2014/main" id="{5DC2EA6B-A2EE-7A8A-EF99-98BC5FC55A2D}"/>
              </a:ext>
            </a:extLst>
          </p:cNvPr>
          <p:cNvSpPr/>
          <p:nvPr/>
        </p:nvSpPr>
        <p:spPr>
          <a:xfrm>
            <a:off x="6058449" y="1915307"/>
            <a:ext cx="5753648" cy="4526810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F20EE65-E11A-F845-7CDE-EAB33A0A78BF}"/>
              </a:ext>
            </a:extLst>
          </p:cNvPr>
          <p:cNvSpPr txBox="1"/>
          <p:nvPr/>
        </p:nvSpPr>
        <p:spPr>
          <a:xfrm>
            <a:off x="2709675" y="118024"/>
            <a:ext cx="7841027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u="sng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Project Scope &amp; Core Research Questions</a:t>
            </a:r>
          </a:p>
          <a:p>
            <a:endParaRPr lang="en-US" sz="3200" b="1" u="sng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C8294816-05C7-BA50-9DE0-08620C2A135D}"/>
              </a:ext>
            </a:extLst>
          </p:cNvPr>
          <p:cNvSpPr/>
          <p:nvPr/>
        </p:nvSpPr>
        <p:spPr>
          <a:xfrm>
            <a:off x="744716" y="857839"/>
            <a:ext cx="4939645" cy="952107"/>
          </a:xfrm>
          <a:prstGeom prst="round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35BB1B1-4B27-A46D-BCEF-69B49C331E15}"/>
              </a:ext>
            </a:extLst>
          </p:cNvPr>
          <p:cNvSpPr txBox="1"/>
          <p:nvPr/>
        </p:nvSpPr>
        <p:spPr>
          <a:xfrm>
            <a:off x="1316092" y="1102484"/>
            <a:ext cx="453429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u="sng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Multi-Site Scope (8 Active Sites)</a:t>
            </a:r>
            <a:endParaRPr lang="en-US" sz="2000" u="sng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55A3890B-7E96-BF2B-0DCA-6A084A0FD230}"/>
              </a:ext>
            </a:extLst>
          </p:cNvPr>
          <p:cNvSpPr/>
          <p:nvPr/>
        </p:nvSpPr>
        <p:spPr>
          <a:xfrm>
            <a:off x="659874" y="2036961"/>
            <a:ext cx="5105668" cy="952107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0DDA2D16-FD5F-BF76-D7AE-380D93F25ADD}"/>
              </a:ext>
            </a:extLst>
          </p:cNvPr>
          <p:cNvSpPr/>
          <p:nvPr/>
        </p:nvSpPr>
        <p:spPr>
          <a:xfrm>
            <a:off x="659874" y="3216083"/>
            <a:ext cx="5105668" cy="1101393"/>
          </a:xfrm>
          <a:prstGeom prst="round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BAAF50A7-B2D2-9208-9421-539E8213DF72}"/>
              </a:ext>
            </a:extLst>
          </p:cNvPr>
          <p:cNvSpPr/>
          <p:nvPr/>
        </p:nvSpPr>
        <p:spPr>
          <a:xfrm>
            <a:off x="659874" y="4562357"/>
            <a:ext cx="5105668" cy="1220771"/>
          </a:xfrm>
          <a:prstGeom prst="round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00A0633-1CC1-2231-C8A6-40FA08619EB9}"/>
              </a:ext>
            </a:extLst>
          </p:cNvPr>
          <p:cNvSpPr txBox="1"/>
          <p:nvPr/>
        </p:nvSpPr>
        <p:spPr>
          <a:xfrm>
            <a:off x="1808611" y="2049820"/>
            <a:ext cx="313639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u="sng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WTG Foundations (5 Sites)</a:t>
            </a:r>
            <a:endParaRPr lang="en-US" sz="1600" u="sng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0E3DE70-7959-661C-3103-2B0C5DDF23CA}"/>
              </a:ext>
            </a:extLst>
          </p:cNvPr>
          <p:cNvSpPr txBox="1"/>
          <p:nvPr/>
        </p:nvSpPr>
        <p:spPr>
          <a:xfrm>
            <a:off x="758295" y="2344313"/>
            <a:ext cx="4926066" cy="6771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/>
            <a:r>
              <a:rPr lang="en-US" sz="1200" b="1" i="1" u="sng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GAL06, GAL07, GAL33, GAL34, GAL35 </a:t>
            </a:r>
            <a:r>
              <a:rPr lang="en-US" sz="1200" i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(Foundation retrofitting &amp; anchor bolt pours).</a:t>
            </a:r>
          </a:p>
          <a:p>
            <a:endParaRPr lang="en-US" sz="1400" i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7652938-C656-B505-6526-5D86B8EEA992}"/>
              </a:ext>
            </a:extLst>
          </p:cNvPr>
          <p:cNvSpPr txBox="1"/>
          <p:nvPr/>
        </p:nvSpPr>
        <p:spPr>
          <a:xfrm>
            <a:off x="2015042" y="3208951"/>
            <a:ext cx="313639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u="sng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Epoxy Grouting (1 Site)</a:t>
            </a:r>
            <a:endParaRPr lang="en-US" sz="1600" u="sng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B0ABBAFB-E2AB-877A-629B-5DE7FDC088C8}"/>
              </a:ext>
            </a:extLst>
          </p:cNvPr>
          <p:cNvSpPr txBox="1"/>
          <p:nvPr/>
        </p:nvSpPr>
        <p:spPr>
          <a:xfrm>
            <a:off x="1316092" y="3686269"/>
            <a:ext cx="4926066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/>
            <a:r>
              <a:rPr lang="en-US" sz="1200" b="1" i="1" u="sng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Molagavali</a:t>
            </a:r>
            <a:r>
              <a:rPr lang="en-US" sz="1200" b="1" i="1" u="sng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 </a:t>
            </a:r>
            <a:r>
              <a:rPr lang="en-US" sz="1200" i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(High-precision epoxy grouting repair).</a:t>
            </a:r>
          </a:p>
          <a:p>
            <a:endParaRPr lang="en-US" sz="1400" i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F8B1B694-EC7E-906A-E25B-F130FE2E7740}"/>
              </a:ext>
            </a:extLst>
          </p:cNvPr>
          <p:cNvSpPr txBox="1"/>
          <p:nvPr/>
        </p:nvSpPr>
        <p:spPr>
          <a:xfrm>
            <a:off x="2015042" y="4602471"/>
            <a:ext cx="313639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u="sng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Industrial Sheds (3 Sites)</a:t>
            </a:r>
            <a:endParaRPr lang="en-US" sz="1600" u="sng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24A29D47-AF3B-AD35-7D98-5674AC5280F0}"/>
              </a:ext>
            </a:extLst>
          </p:cNvPr>
          <p:cNvSpPr txBox="1"/>
          <p:nvPr/>
        </p:nvSpPr>
        <p:spPr>
          <a:xfrm>
            <a:off x="924319" y="5109327"/>
            <a:ext cx="4926066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/>
            <a:r>
              <a:rPr lang="en-US" sz="1200" b="1" i="1" u="sng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Patan, </a:t>
            </a:r>
            <a:r>
              <a:rPr lang="en-US" sz="1200" b="1" i="1" u="sng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Jaglur</a:t>
            </a:r>
            <a:r>
              <a:rPr lang="en-US" sz="1200" b="1" i="1" u="sng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, Otha Phase 3 </a:t>
            </a:r>
            <a:r>
              <a:rPr lang="en-US" sz="1200" i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(Structural steel framing &amp; heavy slab pours).</a:t>
            </a:r>
          </a:p>
          <a:p>
            <a:endParaRPr lang="en-US" sz="1400" i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6342685A-2B9A-90AC-745E-D1512FB50A4C}"/>
              </a:ext>
            </a:extLst>
          </p:cNvPr>
          <p:cNvSpPr/>
          <p:nvPr/>
        </p:nvSpPr>
        <p:spPr>
          <a:xfrm>
            <a:off x="6242158" y="826485"/>
            <a:ext cx="4939645" cy="952107"/>
          </a:xfrm>
          <a:prstGeom prst="roundRect">
            <a:avLst/>
          </a:prstGeom>
          <a:gradFill flip="none" rotWithShape="1">
            <a:gsLst>
              <a:gs pos="0">
                <a:schemeClr val="accent3">
                  <a:lumMod val="67000"/>
                </a:schemeClr>
              </a:gs>
              <a:gs pos="48000">
                <a:schemeClr val="accent3">
                  <a:lumMod val="97000"/>
                  <a:lumOff val="3000"/>
                </a:schemeClr>
              </a:gs>
              <a:gs pos="100000">
                <a:schemeClr val="accent3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FFB09B75-EBEA-0239-EFC8-D6539A90AF3D}"/>
              </a:ext>
            </a:extLst>
          </p:cNvPr>
          <p:cNvSpPr txBox="1"/>
          <p:nvPr/>
        </p:nvSpPr>
        <p:spPr>
          <a:xfrm>
            <a:off x="6820832" y="1052112"/>
            <a:ext cx="453429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u="sng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4 Core Research Questions </a:t>
            </a:r>
            <a:endParaRPr lang="en-US" sz="2000" u="sng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898AD068-4598-9BE8-3D89-E24E94F90F4C}"/>
              </a:ext>
            </a:extLst>
          </p:cNvPr>
          <p:cNvSpPr txBox="1"/>
          <p:nvPr/>
        </p:nvSpPr>
        <p:spPr>
          <a:xfrm>
            <a:off x="6139630" y="1946445"/>
            <a:ext cx="313639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u="sng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Progressive Cash Flow</a:t>
            </a:r>
            <a:endParaRPr lang="en-US" sz="1600" u="sng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990008D2-9DE2-D1E5-982E-51141B434C69}"/>
              </a:ext>
            </a:extLst>
          </p:cNvPr>
          <p:cNvSpPr txBox="1"/>
          <p:nvPr/>
        </p:nvSpPr>
        <p:spPr>
          <a:xfrm>
            <a:off x="6052371" y="2234339"/>
            <a:ext cx="5759726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/>
            <a:r>
              <a:rPr lang="en-US" sz="1200" i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How to track cumulative milestone billing chronologically per site without losing individual invoice details?</a:t>
            </a:r>
          </a:p>
          <a:p>
            <a:pPr lvl="0"/>
            <a:r>
              <a:rPr lang="en-US" dirty="0"/>
              <a:t> </a:t>
            </a:r>
            <a:r>
              <a:rPr lang="en-US" sz="12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SQL SUM() OVER Window Function</a:t>
            </a:r>
            <a:endParaRPr lang="en-US" sz="1200" b="1" i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35080994-94A5-0EE1-B6E7-146750D26698}"/>
              </a:ext>
            </a:extLst>
          </p:cNvPr>
          <p:cNvSpPr txBox="1"/>
          <p:nvPr/>
        </p:nvSpPr>
        <p:spPr>
          <a:xfrm>
            <a:off x="6096000" y="3078147"/>
            <a:ext cx="313639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u="sng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Vendor Overrun Control</a:t>
            </a:r>
            <a:endParaRPr lang="en-US" sz="1600" u="sng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23DADD86-349F-19EE-8215-79F0C10D4A15}"/>
              </a:ext>
            </a:extLst>
          </p:cNvPr>
          <p:cNvSpPr txBox="1"/>
          <p:nvPr/>
        </p:nvSpPr>
        <p:spPr>
          <a:xfrm>
            <a:off x="6096000" y="3424658"/>
            <a:ext cx="571609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/>
            <a:r>
              <a:rPr lang="en-US" sz="1200" i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How to audit subcontractor purchase order commitments against client budget ceilings early?</a:t>
            </a:r>
          </a:p>
          <a:p>
            <a:pPr lvl="0"/>
            <a:r>
              <a:rPr lang="en-US" sz="12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SQL CTE &amp; 80% Overrun Risk Flag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99106C45-71D2-392F-430D-CF4A666B3BB9}"/>
              </a:ext>
            </a:extLst>
          </p:cNvPr>
          <p:cNvSpPr txBox="1"/>
          <p:nvPr/>
        </p:nvSpPr>
        <p:spPr>
          <a:xfrm>
            <a:off x="6052371" y="4139371"/>
            <a:ext cx="313639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u="sng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Quality Control &amp; NDT Testing</a:t>
            </a:r>
            <a:endParaRPr lang="en-US" sz="1600" u="sng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F8918A7F-B550-5395-3DC6-CD3B52AE6700}"/>
              </a:ext>
            </a:extLst>
          </p:cNvPr>
          <p:cNvSpPr txBox="1"/>
          <p:nvPr/>
        </p:nvSpPr>
        <p:spPr>
          <a:xfrm>
            <a:off x="6114830" y="4490288"/>
            <a:ext cx="575972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/>
            <a:r>
              <a:rPr lang="en-US" sz="1200" i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How can early Ultrasonic Pulse Velocity (UPV) sound wave speed forecast 28-day concrete strength?</a:t>
            </a:r>
          </a:p>
          <a:p>
            <a:pPr lvl="0"/>
            <a:r>
              <a:rPr lang="en-US" sz="12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Random Forest ML Model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7929A8DE-0FE4-7786-0952-0A93DF32ACFD}"/>
              </a:ext>
            </a:extLst>
          </p:cNvPr>
          <p:cNvSpPr txBox="1"/>
          <p:nvPr/>
        </p:nvSpPr>
        <p:spPr>
          <a:xfrm>
            <a:off x="6139630" y="5201556"/>
            <a:ext cx="313639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u="sng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Site Defect Triage</a:t>
            </a:r>
            <a:endParaRPr lang="en-US" sz="1600" u="sng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19306328-FC15-4D04-2772-7D2CF5B6AD49}"/>
              </a:ext>
            </a:extLst>
          </p:cNvPr>
          <p:cNvSpPr txBox="1"/>
          <p:nvPr/>
        </p:nvSpPr>
        <p:spPr>
          <a:xfrm>
            <a:off x="6114830" y="5562211"/>
            <a:ext cx="575972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/>
            <a:r>
              <a:rPr lang="en-US" sz="1200" i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How to automatically classify physical site damage inspection logs into standardized 1–5 severity ratings?</a:t>
            </a:r>
          </a:p>
          <a:p>
            <a:pPr lvl="0"/>
            <a:r>
              <a:rPr lang="en-US" sz="1200" i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sz="12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Multi-Class ML Classifier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250A9A14-C98A-52B4-39DB-509E935E75B3}"/>
              </a:ext>
            </a:extLst>
          </p:cNvPr>
          <p:cNvSpPr txBox="1"/>
          <p:nvPr/>
        </p:nvSpPr>
        <p:spPr>
          <a:xfrm>
            <a:off x="0" y="6244179"/>
            <a:ext cx="801014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Project Repository:</a:t>
            </a:r>
          </a:p>
          <a:p>
            <a:r>
              <a:rPr lang="en-US" sz="1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hlinkClick r:id="rId2"/>
              </a:rPr>
              <a:t>https://github.com/Pallabi5200/Civil_Engineering_Data_Science_Project</a:t>
            </a:r>
            <a:endParaRPr lang="en-US" sz="14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9644634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B0D90151-9421-F26E-2869-6BACAA489B6B}"/>
              </a:ext>
            </a:extLst>
          </p:cNvPr>
          <p:cNvSpPr txBox="1"/>
          <p:nvPr/>
        </p:nvSpPr>
        <p:spPr>
          <a:xfrm>
            <a:off x="1362456" y="172888"/>
            <a:ext cx="1024127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u="sng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SQL Commercial Engine: Progressive Billing &amp; Cash Flow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174AD91-B0FB-815B-D82D-DA357DEF4B4D}"/>
              </a:ext>
            </a:extLst>
          </p:cNvPr>
          <p:cNvSpPr txBox="1"/>
          <p:nvPr/>
        </p:nvSpPr>
        <p:spPr>
          <a:xfrm>
            <a:off x="0" y="6334780"/>
            <a:ext cx="801014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Project Repository:</a:t>
            </a:r>
          </a:p>
          <a:p>
            <a:r>
              <a:rPr lang="en-US" sz="1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hlinkClick r:id="rId2"/>
              </a:rPr>
              <a:t>https://github.com/Pallabi5200/Civil_Engineering_Data_Science_Project</a:t>
            </a:r>
            <a:endParaRPr lang="en-US" sz="14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3F85E40-3F72-D4C1-D73A-A409FCC0E43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1975" y="893637"/>
            <a:ext cx="6108569" cy="4008301"/>
          </a:xfrm>
          <a:prstGeom prst="rect">
            <a:avLst/>
          </a:prstGeom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32B86EBF-E7F9-F22A-A470-CB206121B77B}"/>
              </a:ext>
            </a:extLst>
          </p:cNvPr>
          <p:cNvSpPr/>
          <p:nvPr/>
        </p:nvSpPr>
        <p:spPr>
          <a:xfrm>
            <a:off x="6354169" y="826731"/>
            <a:ext cx="5705856" cy="2868576"/>
          </a:xfrm>
          <a:prstGeom prst="round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7A687E30-0ADC-6128-BB26-9E83AE0560E7}"/>
              </a:ext>
            </a:extLst>
          </p:cNvPr>
          <p:cNvSpPr/>
          <p:nvPr/>
        </p:nvSpPr>
        <p:spPr>
          <a:xfrm>
            <a:off x="6413605" y="3881470"/>
            <a:ext cx="5705856" cy="2714920"/>
          </a:xfrm>
          <a:prstGeom prst="round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D5443D3-9ADA-5045-2ED0-E3DE47A9859E}"/>
              </a:ext>
            </a:extLst>
          </p:cNvPr>
          <p:cNvSpPr txBox="1"/>
          <p:nvPr/>
        </p:nvSpPr>
        <p:spPr>
          <a:xfrm>
            <a:off x="6975835" y="964850"/>
            <a:ext cx="46279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u="sng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Running Balance Window Function (SUM() OVER)</a:t>
            </a:r>
            <a:endParaRPr lang="en-US" sz="1600" u="sng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126F4F7-03CF-0A58-C9C2-28AA28838034}"/>
              </a:ext>
            </a:extLst>
          </p:cNvPr>
          <p:cNvSpPr txBox="1"/>
          <p:nvPr/>
        </p:nvSpPr>
        <p:spPr>
          <a:xfrm>
            <a:off x="7575849" y="3995307"/>
            <a:ext cx="359359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u="sng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Chronological Billing Findings</a:t>
            </a:r>
            <a:endParaRPr lang="en-US" sz="1600" u="sng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7C805701-912F-BF32-05EA-930944A47DBB}"/>
              </a:ext>
            </a:extLst>
          </p:cNvPr>
          <p:cNvSpPr txBox="1"/>
          <p:nvPr/>
        </p:nvSpPr>
        <p:spPr>
          <a:xfrm>
            <a:off x="6473041" y="1589162"/>
            <a:ext cx="5586984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28600" lvl="0" indent="-228600">
              <a:buFont typeface="+mj-lt"/>
              <a:buAutoNum type="arabicPeriod"/>
            </a:pPr>
            <a:r>
              <a:rPr lang="en-US" sz="1200" b="1" u="sng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Passbook Query Logic</a:t>
            </a:r>
            <a:r>
              <a:rPr lang="en-US" sz="1200" i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 Wrote a running balance window function </a:t>
            </a:r>
            <a:r>
              <a:rPr lang="en-US" sz="1200" b="1" i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(SUM(</a:t>
            </a:r>
            <a:r>
              <a:rPr lang="en-US" sz="1200" b="1" i="1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net_payable_amount</a:t>
            </a:r>
            <a:r>
              <a:rPr lang="en-US" sz="1200" b="1" i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) OVER (PARTITION BY </a:t>
            </a:r>
            <a:r>
              <a:rPr lang="en-US" sz="1200" b="1" i="1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project_name</a:t>
            </a:r>
            <a:r>
              <a:rPr lang="en-US" sz="1200" b="1" i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ORDER BY </a:t>
            </a:r>
            <a:r>
              <a:rPr lang="en-US" sz="1200" b="1" i="1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invoice_date</a:t>
            </a:r>
            <a:r>
              <a:rPr lang="en-US" sz="1200" b="1" i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)).</a:t>
            </a:r>
          </a:p>
          <a:p>
            <a:pPr marL="228600" lvl="0" indent="-228600">
              <a:buFont typeface="+mj-lt"/>
              <a:buAutoNum type="arabicPeriod"/>
            </a:pPr>
            <a:endParaRPr lang="en-US" sz="1200" i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228600" lvl="0" indent="-228600">
              <a:buFont typeface="+mj-lt"/>
              <a:buAutoNum type="arabicPeriod"/>
            </a:pPr>
            <a:r>
              <a:rPr lang="en-US" sz="1200" b="1" u="sng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Granular Milestone Auditing</a:t>
            </a:r>
            <a:r>
              <a:rPr lang="en-US" sz="1200" i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 Calculates cumulative billed amounts chronologically per site without dropping individual invoice line-item records.</a:t>
            </a:r>
          </a:p>
          <a:p>
            <a:pPr marL="228600" lvl="0" indent="-228600">
              <a:buFont typeface="+mj-lt"/>
              <a:buAutoNum type="arabicPeriod"/>
            </a:pPr>
            <a:endParaRPr lang="en-US" sz="1200" i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228600" lvl="0" indent="-228600">
              <a:buFont typeface="+mj-lt"/>
              <a:buAutoNum type="arabicPeriod"/>
            </a:pPr>
            <a:r>
              <a:rPr lang="en-US" sz="1200" b="1" u="sng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Multi-Table Relational Joins</a:t>
            </a:r>
            <a:r>
              <a:rPr lang="en-US" sz="1200" i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 Joined </a:t>
            </a:r>
            <a:r>
              <a:rPr lang="en-US" sz="1200" b="1" i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Projects, </a:t>
            </a:r>
            <a:r>
              <a:rPr lang="en-US" sz="1200" b="1" i="1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Work_Orders</a:t>
            </a:r>
            <a:r>
              <a:rPr lang="en-US" sz="1200" b="1" i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, and </a:t>
            </a:r>
            <a:r>
              <a:rPr lang="en-US" sz="1200" b="1" i="1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Tax_Invoices</a:t>
            </a:r>
            <a:r>
              <a:rPr lang="en-US" sz="1200" i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using primary and foreign key relationships </a:t>
            </a:r>
            <a:r>
              <a:rPr lang="en-US" sz="1200" b="1" i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(</a:t>
            </a:r>
            <a:r>
              <a:rPr lang="en-US" sz="1200" b="1" i="1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project_id</a:t>
            </a:r>
            <a:r>
              <a:rPr lang="en-US" sz="1200" b="1" i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, </a:t>
            </a:r>
            <a:r>
              <a:rPr lang="en-US" sz="1200" b="1" i="1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work_order_id</a:t>
            </a:r>
            <a:r>
              <a:rPr lang="en-US" sz="1200" b="1" i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).</a:t>
            </a:r>
            <a:endParaRPr lang="en-US" sz="1400" b="1" i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233CD17B-B9F0-3A2E-FE6D-11A282757B3C}"/>
              </a:ext>
            </a:extLst>
          </p:cNvPr>
          <p:cNvSpPr txBox="1"/>
          <p:nvPr/>
        </p:nvSpPr>
        <p:spPr>
          <a:xfrm>
            <a:off x="6532462" y="4520024"/>
            <a:ext cx="5586984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28600" lvl="0" indent="-228600">
              <a:buFont typeface="+mj-lt"/>
              <a:buAutoNum type="arabicPeriod"/>
            </a:pPr>
            <a:r>
              <a:rPr lang="en-US" sz="1200" b="1" u="sng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GAL33 WTG Foundation Site</a:t>
            </a:r>
            <a:r>
              <a:rPr lang="en-US" sz="1200" i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 Cumulative milestone billing grew from ₹4.55 Lakhs in Feb 2026 to ₹13.65 Lakhs by late March 2026 across 3 milestones.</a:t>
            </a:r>
          </a:p>
          <a:p>
            <a:pPr marL="228600" lvl="0" indent="-228600">
              <a:buFont typeface="+mj-lt"/>
              <a:buAutoNum type="arabicPeriod"/>
            </a:pPr>
            <a:endParaRPr lang="en-US" sz="1200" i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228600" lvl="0" indent="-228600">
              <a:buFont typeface="+mj-lt"/>
              <a:buAutoNum type="arabicPeriod"/>
            </a:pPr>
            <a:r>
              <a:rPr lang="en-US" sz="1200" b="1" u="sng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Molagavali</a:t>
            </a:r>
            <a:r>
              <a:rPr lang="en-US" sz="1200" b="1" u="sng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Grouting Repair Site</a:t>
            </a:r>
            <a:r>
              <a:rPr lang="en-US" sz="1200" i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 Tracks progressive milestone payouts up to ₹5.16 Lakhs cleanly.</a:t>
            </a:r>
          </a:p>
          <a:p>
            <a:pPr marL="228600" lvl="0" indent="-228600">
              <a:buFont typeface="+mj-lt"/>
              <a:buAutoNum type="arabicPeriod"/>
            </a:pPr>
            <a:endParaRPr lang="en-US" sz="1200" i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228600" lvl="0" indent="-228600">
              <a:buFont typeface="+mj-lt"/>
              <a:buAutoNum type="arabicPeriod"/>
            </a:pPr>
            <a:r>
              <a:rPr lang="en-US" sz="1200" b="1" u="sng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Commercial Value</a:t>
            </a:r>
            <a:r>
              <a:rPr lang="en-US" sz="1200" i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 Prevents billing bottlenecks and guarantees 100% audit-ready financial transparency for client reviews.</a:t>
            </a:r>
            <a:endParaRPr lang="en-US" sz="1400" i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7872226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C4E8D319-AF6A-175F-721C-AF1A00E3EFEA}"/>
              </a:ext>
            </a:extLst>
          </p:cNvPr>
          <p:cNvSpPr txBox="1"/>
          <p:nvPr/>
        </p:nvSpPr>
        <p:spPr>
          <a:xfrm>
            <a:off x="810706" y="276582"/>
            <a:ext cx="11170762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u="sng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SQL Commercial Engine: Subcontractor Budget Overrun Risk CTE</a:t>
            </a:r>
          </a:p>
          <a:p>
            <a:endParaRPr lang="en-US" sz="3200" b="1" u="sng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endParaRPr lang="en-US" sz="3200" b="1" u="sng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9F17471F-894E-FD1F-8FBA-ED45AC9D46BF}"/>
              </a:ext>
            </a:extLst>
          </p:cNvPr>
          <p:cNvSpPr/>
          <p:nvPr/>
        </p:nvSpPr>
        <p:spPr>
          <a:xfrm>
            <a:off x="5772064" y="987552"/>
            <a:ext cx="6126480" cy="2368296"/>
          </a:xfrm>
          <a:prstGeom prst="roundRect">
            <a:avLst/>
          </a:prstGeom>
          <a:ln/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7C5DC7BE-67D7-3131-205B-7D78901ADFBD}"/>
              </a:ext>
            </a:extLst>
          </p:cNvPr>
          <p:cNvSpPr/>
          <p:nvPr/>
        </p:nvSpPr>
        <p:spPr>
          <a:xfrm>
            <a:off x="5617464" y="3602822"/>
            <a:ext cx="6126480" cy="2468040"/>
          </a:xfrm>
          <a:prstGeom prst="round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03CC9B4-3755-3883-34B2-DFFD98DF5EE2}"/>
              </a:ext>
            </a:extLst>
          </p:cNvPr>
          <p:cNvSpPr txBox="1"/>
          <p:nvPr/>
        </p:nvSpPr>
        <p:spPr>
          <a:xfrm>
            <a:off x="6574536" y="1061412"/>
            <a:ext cx="509510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u="sng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Subcontractor Commitment CTE (WITH ... AS)</a:t>
            </a:r>
            <a:endParaRPr lang="en-US" sz="1600" u="sng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664ECC1-FB43-3056-6889-FE23A7A3BC64}"/>
              </a:ext>
            </a:extLst>
          </p:cNvPr>
          <p:cNvSpPr txBox="1"/>
          <p:nvPr/>
        </p:nvSpPr>
        <p:spPr>
          <a:xfrm>
            <a:off x="6648835" y="3689829"/>
            <a:ext cx="509510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u="sng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Automated Overrun Risk Flag (CASE WHEN)</a:t>
            </a:r>
            <a:endParaRPr lang="en-US" sz="1600" u="sng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41F1E240-C883-F8C6-78C7-2ABA68BEEBDB}"/>
              </a:ext>
            </a:extLst>
          </p:cNvPr>
          <p:cNvSpPr txBox="1"/>
          <p:nvPr/>
        </p:nvSpPr>
        <p:spPr>
          <a:xfrm>
            <a:off x="5887212" y="4155160"/>
            <a:ext cx="5586984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28600" lvl="0" indent="-228600">
              <a:buFont typeface="+mj-lt"/>
              <a:buAutoNum type="arabicPeriod"/>
            </a:pPr>
            <a:r>
              <a:rPr lang="en-US" sz="1200" b="1" u="sng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3-Tier Risk Logic</a:t>
            </a:r>
            <a:r>
              <a:rPr lang="en-US" sz="1200" i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 Used CASE WHEN to set automatic alerts: HIGH (&gt;80%), MODERATE (&gt;50%), and LOW.</a:t>
            </a:r>
          </a:p>
          <a:p>
            <a:pPr marL="228600" lvl="0" indent="-228600">
              <a:buFont typeface="+mj-lt"/>
              <a:buAutoNum type="arabicPeriod"/>
            </a:pPr>
            <a:endParaRPr lang="en-US" sz="1200" i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228600" lvl="0" indent="-228600">
              <a:buFont typeface="+mj-lt"/>
              <a:buAutoNum type="arabicPeriod"/>
            </a:pPr>
            <a:r>
              <a:rPr lang="en-US" sz="1200" b="1" u="sng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Audit Finding</a:t>
            </a:r>
            <a:r>
              <a:rPr lang="en-US" sz="1200" i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 Flagged HIGH RISK (100% Commitment) for retrofitting at GAL33, storage shed at Patan, and shed at Otha Ph 3.</a:t>
            </a:r>
          </a:p>
          <a:p>
            <a:pPr marL="228600" lvl="0" indent="-228600">
              <a:buFont typeface="+mj-lt"/>
              <a:buAutoNum type="arabicPeriod"/>
            </a:pPr>
            <a:endParaRPr lang="en-US" sz="1200" i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228600" lvl="0" indent="-228600">
              <a:buFont typeface="+mj-lt"/>
              <a:buAutoNum type="arabicPeriod"/>
            </a:pPr>
            <a:r>
              <a:rPr lang="en-US" sz="1200" b="1" u="sng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Margin ROI: </a:t>
            </a:r>
            <a:r>
              <a:rPr lang="en-US" sz="1200" i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Serves as an early financial alert to protect contractor profit margins against vendor budget overruns.</a:t>
            </a:r>
            <a:endParaRPr lang="en-US" sz="1400" i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6271ECB-23D5-494E-27A8-6CC97D66F90C}"/>
              </a:ext>
            </a:extLst>
          </p:cNvPr>
          <p:cNvSpPr txBox="1"/>
          <p:nvPr/>
        </p:nvSpPr>
        <p:spPr>
          <a:xfrm>
            <a:off x="6041812" y="1490810"/>
            <a:ext cx="5586984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28600" lvl="0" indent="-228600">
              <a:buFont typeface="+mj-lt"/>
              <a:buAutoNum type="arabicPeriod"/>
            </a:pPr>
            <a:r>
              <a:rPr lang="en-US" sz="1200" b="1" u="sng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CTE Pre-Aggregation</a:t>
            </a:r>
            <a:r>
              <a:rPr lang="en-US" sz="1200" i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 Built WITH </a:t>
            </a:r>
            <a:r>
              <a:rPr lang="en-US" sz="1200" i="1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VendorCommitments</a:t>
            </a:r>
            <a:r>
              <a:rPr lang="en-US" sz="1200" i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AS (...) to sum subcontractor purchase orders (SUM(</a:t>
            </a:r>
            <a:r>
              <a:rPr lang="en-US" sz="1200" i="1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total_po_value</a:t>
            </a:r>
            <a:r>
              <a:rPr lang="en-US" sz="1200" i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)) per site.</a:t>
            </a:r>
          </a:p>
          <a:p>
            <a:pPr marL="228600" lvl="0" indent="-228600">
              <a:buFont typeface="+mj-lt"/>
              <a:buAutoNum type="arabicPeriod"/>
            </a:pPr>
            <a:endParaRPr lang="en-US" sz="1200" i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228600" lvl="0" indent="-228600">
              <a:buFont typeface="+mj-lt"/>
              <a:buAutoNum type="arabicPeriod"/>
            </a:pPr>
            <a:r>
              <a:rPr lang="en-US" sz="1200" b="1" u="sng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Commitment Ratio Formula</a:t>
            </a:r>
            <a:r>
              <a:rPr lang="en-US" sz="1200" i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 Calculated cost ratio (</a:t>
            </a:r>
            <a:r>
              <a:rPr lang="en-US" sz="1200" i="1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total_po_commitment</a:t>
            </a:r>
            <a:r>
              <a:rPr lang="en-US" sz="1200" i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* 100.0 / </a:t>
            </a:r>
            <a:r>
              <a:rPr lang="en-US" sz="1200" i="1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total_contract_value</a:t>
            </a:r>
            <a:r>
              <a:rPr lang="en-US" sz="1200" i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).</a:t>
            </a:r>
          </a:p>
          <a:p>
            <a:pPr marL="228600" lvl="0" indent="-228600">
              <a:buFont typeface="+mj-lt"/>
              <a:buAutoNum type="arabicPeriod"/>
            </a:pPr>
            <a:endParaRPr lang="en-US" sz="1200" i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228600" lvl="0" indent="-228600">
              <a:buFont typeface="+mj-lt"/>
              <a:buAutoNum type="arabicPeriod"/>
            </a:pPr>
            <a:r>
              <a:rPr lang="en-US" sz="1200" b="1" u="sng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Relational Joins: </a:t>
            </a:r>
            <a:r>
              <a:rPr lang="en-US" sz="1200" i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Joined Projects, </a:t>
            </a:r>
            <a:r>
              <a:rPr lang="en-US" sz="1200" i="1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Work_Orders</a:t>
            </a:r>
            <a:r>
              <a:rPr lang="en-US" sz="1200" i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, and </a:t>
            </a:r>
            <a:r>
              <a:rPr lang="en-US" sz="1200" i="1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VendorCommitments</a:t>
            </a:r>
            <a:r>
              <a:rPr lang="en-US" sz="1200" i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on </a:t>
            </a:r>
            <a:r>
              <a:rPr lang="en-US" sz="1200" i="1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project_id</a:t>
            </a:r>
            <a:r>
              <a:rPr lang="en-US" sz="1200" i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.</a:t>
            </a:r>
            <a:endParaRPr lang="en-US" sz="1400" i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58497E02-94F4-37C2-2ABB-CFAC81E7157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0532" y="987552"/>
            <a:ext cx="5241084" cy="4300671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BD6B941B-1133-E840-15AB-5FC4C550A4CB}"/>
              </a:ext>
            </a:extLst>
          </p:cNvPr>
          <p:cNvSpPr txBox="1"/>
          <p:nvPr/>
        </p:nvSpPr>
        <p:spPr>
          <a:xfrm>
            <a:off x="0" y="6334780"/>
            <a:ext cx="801014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Project Repository:</a:t>
            </a:r>
          </a:p>
          <a:p>
            <a:r>
              <a:rPr lang="en-US" sz="1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hlinkClick r:id="rId3"/>
              </a:rPr>
              <a:t>https://github.com/Pallabi5200/Civil_Engineering_Data_Science_Project</a:t>
            </a:r>
            <a:endParaRPr lang="en-US" sz="14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3627716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57C18D09-CAE3-90DE-EF95-374E366A904A}"/>
              </a:ext>
            </a:extLst>
          </p:cNvPr>
          <p:cNvSpPr txBox="1"/>
          <p:nvPr/>
        </p:nvSpPr>
        <p:spPr>
          <a:xfrm>
            <a:off x="810706" y="276582"/>
            <a:ext cx="11170762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u="sng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Quality Control &amp; Non-Destructive Sound Wave Testing (NDT)</a:t>
            </a:r>
          </a:p>
          <a:p>
            <a:endParaRPr lang="en-US" sz="3200" b="1" u="sng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CAA88D5B-5DE0-2593-6FDF-246018DB0F19}"/>
              </a:ext>
            </a:extLst>
          </p:cNvPr>
          <p:cNvSpPr/>
          <p:nvPr/>
        </p:nvSpPr>
        <p:spPr>
          <a:xfrm>
            <a:off x="5772064" y="987552"/>
            <a:ext cx="6126480" cy="2368296"/>
          </a:xfrm>
          <a:prstGeom prst="roundRect">
            <a:avLst/>
          </a:prstGeom>
          <a:ln/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5C5E1BCA-40CB-9890-1A53-E9B25481E45A}"/>
              </a:ext>
            </a:extLst>
          </p:cNvPr>
          <p:cNvSpPr/>
          <p:nvPr/>
        </p:nvSpPr>
        <p:spPr>
          <a:xfrm>
            <a:off x="5617464" y="3602822"/>
            <a:ext cx="6126480" cy="2468040"/>
          </a:xfrm>
          <a:prstGeom prst="round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F15CE01-818A-096E-102B-E832A66F18E1}"/>
              </a:ext>
            </a:extLst>
          </p:cNvPr>
          <p:cNvSpPr txBox="1"/>
          <p:nvPr/>
        </p:nvSpPr>
        <p:spPr>
          <a:xfrm>
            <a:off x="6574536" y="1061412"/>
            <a:ext cx="509510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u="sng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Python Quality EDA &amp; Outlier Audit</a:t>
            </a:r>
            <a:endParaRPr lang="en-US" sz="1600" u="sng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1F0CC72-7F76-1473-6BA0-29E153DECB72}"/>
              </a:ext>
            </a:extLst>
          </p:cNvPr>
          <p:cNvSpPr txBox="1"/>
          <p:nvPr/>
        </p:nvSpPr>
        <p:spPr>
          <a:xfrm>
            <a:off x="5785677" y="4035210"/>
            <a:ext cx="5586984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28600" lvl="0" indent="-228600">
              <a:buFont typeface="+mj-lt"/>
              <a:buAutoNum type="arabicPeriod"/>
            </a:pPr>
            <a:r>
              <a:rPr lang="en-US" sz="1200" b="1" u="sng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Quality Specification</a:t>
            </a:r>
            <a:r>
              <a:rPr lang="en-US" sz="1200" i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 Target structural concrete (M-40 grade) requires &gt;= 40.0 MPa at 28 days of curing.</a:t>
            </a:r>
          </a:p>
          <a:p>
            <a:pPr marL="228600" lvl="0" indent="-228600">
              <a:buFont typeface="+mj-lt"/>
              <a:buAutoNum type="arabicPeriod"/>
            </a:pPr>
            <a:endParaRPr lang="en-US" sz="1200" i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228600" lvl="0" indent="-228600">
              <a:buFont typeface="+mj-lt"/>
              <a:buAutoNum type="arabicPeriod"/>
            </a:pPr>
            <a:r>
              <a:rPr lang="en-US" sz="1200" b="1" u="sng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Acoustic Velocity Metric</a:t>
            </a:r>
            <a:r>
              <a:rPr lang="en-US" sz="1200" i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 High Ultrasonic Pulse Velocity (&gt;= 4200 m/s) indicates high concrete density with zero voids or micro-cracks.</a:t>
            </a:r>
          </a:p>
          <a:p>
            <a:pPr marL="228600" lvl="0" indent="-228600">
              <a:buFont typeface="+mj-lt"/>
              <a:buAutoNum type="arabicPeriod"/>
            </a:pPr>
            <a:endParaRPr lang="en-US" sz="1200" i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228600" lvl="0" indent="-228600">
              <a:buFont typeface="+mj-lt"/>
              <a:buAutoNum type="arabicPeriod"/>
            </a:pPr>
            <a:r>
              <a:rPr lang="en-US" sz="1200" b="1" u="sng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Empirical Site Finding</a:t>
            </a:r>
            <a:r>
              <a:rPr lang="en-US" sz="1200" i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 High-strength epoxy grouting at </a:t>
            </a:r>
            <a:r>
              <a:rPr lang="en-US" sz="1200" i="1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Molagavali</a:t>
            </a:r>
            <a:r>
              <a:rPr lang="en-US" sz="1200" i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site achieved 100% compliance with an average compressive strength of 58.40 MPa.</a:t>
            </a:r>
            <a:endParaRPr lang="en-US" sz="1400" i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2924354-E160-77FD-3243-E28E2EA2AEDB}"/>
              </a:ext>
            </a:extLst>
          </p:cNvPr>
          <p:cNvSpPr txBox="1"/>
          <p:nvPr/>
        </p:nvSpPr>
        <p:spPr>
          <a:xfrm>
            <a:off x="6031615" y="3698547"/>
            <a:ext cx="509510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b="1" u="sng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Sound Wave NDT &amp; Strength Findings</a:t>
            </a:r>
            <a:endParaRPr lang="en-US" sz="1600" u="sng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70C87FC-FE91-6A70-70B5-21D5724A168E}"/>
              </a:ext>
            </a:extLst>
          </p:cNvPr>
          <p:cNvSpPr txBox="1"/>
          <p:nvPr/>
        </p:nvSpPr>
        <p:spPr>
          <a:xfrm>
            <a:off x="5913120" y="1529229"/>
            <a:ext cx="5586984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28600" lvl="0" indent="-228600">
              <a:buFont typeface="+mj-lt"/>
              <a:buAutoNum type="arabicPeriod"/>
            </a:pPr>
            <a:r>
              <a:rPr lang="en-US" sz="1200" b="1" u="sng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Database Ingestion</a:t>
            </a:r>
            <a:r>
              <a:rPr lang="en-US" sz="1200" i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 Extracted concrete quality test logs (</a:t>
            </a:r>
            <a:r>
              <a:rPr lang="en-US" sz="1200" i="1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Field_Quality_Logs</a:t>
            </a:r>
            <a:r>
              <a:rPr lang="en-US" sz="1200" i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) from SQLite database into Pandas </a:t>
            </a:r>
            <a:r>
              <a:rPr lang="en-US" sz="1200" i="1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df_quality</a:t>
            </a:r>
            <a:r>
              <a:rPr lang="en-US" sz="1200" i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.</a:t>
            </a:r>
          </a:p>
          <a:p>
            <a:pPr marL="228600" lvl="0" indent="-228600">
              <a:buFont typeface="+mj-lt"/>
              <a:buAutoNum type="arabicPeriod"/>
            </a:pPr>
            <a:endParaRPr lang="en-US" sz="1200" i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228600" lvl="0" indent="-228600">
              <a:buFont typeface="+mj-lt"/>
              <a:buAutoNum type="arabicPeriod"/>
            </a:pPr>
            <a:r>
              <a:rPr lang="en-US" sz="1200" b="1" u="sng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IQR Outlier Filtering</a:t>
            </a:r>
            <a:r>
              <a:rPr lang="en-US" sz="1200" i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 Computed 1.5 x IQR bounds on compressive strength (Q1 = 32.03 MPa, Q3 = 44.97 MPa).</a:t>
            </a:r>
          </a:p>
          <a:p>
            <a:pPr marL="228600" lvl="0" indent="-228600">
              <a:buFont typeface="+mj-lt"/>
              <a:buAutoNum type="arabicPeriod"/>
            </a:pPr>
            <a:endParaRPr lang="en-US" sz="1200" i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228600" lvl="0" indent="-228600">
              <a:buFont typeface="+mj-lt"/>
              <a:buAutoNum type="arabicPeriod"/>
            </a:pPr>
            <a:r>
              <a:rPr lang="en-US" sz="1200" b="1" u="sng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Data Quality Result</a:t>
            </a:r>
            <a:r>
              <a:rPr lang="en-US" sz="1200" i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 Confirmed 0 quality outliers, proving lab test data consistency.</a:t>
            </a:r>
            <a:endParaRPr lang="en-US" sz="1400" i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687A0F1D-99DD-99E6-AEF2-BBFC27353DF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7572" y="987552"/>
            <a:ext cx="5336923" cy="3972136"/>
          </a:xfrm>
          <a:prstGeom prst="rect">
            <a:avLst/>
          </a:prstGeom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CB17630B-558F-141F-523A-3F7723326146}"/>
              </a:ext>
            </a:extLst>
          </p:cNvPr>
          <p:cNvSpPr txBox="1"/>
          <p:nvPr/>
        </p:nvSpPr>
        <p:spPr>
          <a:xfrm>
            <a:off x="0" y="6334780"/>
            <a:ext cx="801014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Project Repository:</a:t>
            </a:r>
          </a:p>
          <a:p>
            <a:r>
              <a:rPr lang="en-US" sz="1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hlinkClick r:id="rId3"/>
              </a:rPr>
              <a:t>https://github.com/Pallabi5200/Civil_Engineering_Data_Science_Project</a:t>
            </a:r>
            <a:endParaRPr lang="en-US" sz="14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4999411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E7C76C40-761B-F7D6-97D5-29A5D1A96FF2}"/>
              </a:ext>
            </a:extLst>
          </p:cNvPr>
          <p:cNvSpPr txBox="1"/>
          <p:nvPr/>
        </p:nvSpPr>
        <p:spPr>
          <a:xfrm>
            <a:off x="1021238" y="212574"/>
            <a:ext cx="1117076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u="sng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Interactive Executive Dashboards (</a:t>
            </a:r>
            <a:r>
              <a:rPr lang="en-US" sz="3200" b="1" u="sng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Streamlit</a:t>
            </a:r>
            <a:r>
              <a:rPr lang="en-US" sz="3200" b="1" u="sng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&amp; Power BI)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0EF61B14-023A-17A9-D948-DF5A39DD4C99}"/>
              </a:ext>
            </a:extLst>
          </p:cNvPr>
          <p:cNvSpPr/>
          <p:nvPr/>
        </p:nvSpPr>
        <p:spPr>
          <a:xfrm>
            <a:off x="5772064" y="987552"/>
            <a:ext cx="6126480" cy="2368296"/>
          </a:xfrm>
          <a:prstGeom prst="roundRect">
            <a:avLst/>
          </a:prstGeom>
          <a:ln/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E1B59B2C-21D5-0259-70DD-73CABD1E1062}"/>
              </a:ext>
            </a:extLst>
          </p:cNvPr>
          <p:cNvSpPr/>
          <p:nvPr/>
        </p:nvSpPr>
        <p:spPr>
          <a:xfrm>
            <a:off x="5772064" y="3681984"/>
            <a:ext cx="6126480" cy="2368296"/>
          </a:xfrm>
          <a:prstGeom prst="roundRect">
            <a:avLst/>
          </a:prstGeom>
          <a:ln/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38F77A8-AA83-BA21-C17C-552C646881B0}"/>
              </a:ext>
            </a:extLst>
          </p:cNvPr>
          <p:cNvSpPr txBox="1"/>
          <p:nvPr/>
        </p:nvSpPr>
        <p:spPr>
          <a:xfrm>
            <a:off x="6208776" y="1052268"/>
            <a:ext cx="509510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b="1" u="sng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Dual-Dashboard Architecture</a:t>
            </a:r>
            <a:endParaRPr lang="en-US" sz="1600" u="sng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97274B2-D972-CC28-9B64-5177C76ED5C2}"/>
              </a:ext>
            </a:extLst>
          </p:cNvPr>
          <p:cNvSpPr txBox="1"/>
          <p:nvPr/>
        </p:nvSpPr>
        <p:spPr>
          <a:xfrm>
            <a:off x="5962838" y="1455538"/>
            <a:ext cx="5586984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28600" lvl="0" indent="-228600">
              <a:buFont typeface="+mj-lt"/>
              <a:buAutoNum type="arabicPeriod"/>
            </a:pPr>
            <a:r>
              <a:rPr lang="en-US" sz="1200" b="1" u="sng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Streamlit</a:t>
            </a:r>
            <a:r>
              <a:rPr lang="en-US" sz="1200" b="1" u="sng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Web App (app.py): </a:t>
            </a:r>
            <a:r>
              <a:rPr lang="en-US" sz="1200" i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Built for site engineers with project dropdown filters, top KPI cards, and </a:t>
            </a:r>
            <a:r>
              <a:rPr lang="en-US" sz="1200" i="1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Plotly</a:t>
            </a:r>
            <a:r>
              <a:rPr lang="en-US" sz="1200" i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analytics charts.</a:t>
            </a:r>
          </a:p>
          <a:p>
            <a:pPr marL="228600" lvl="0" indent="-228600">
              <a:buFont typeface="+mj-lt"/>
              <a:buAutoNum type="arabicPeriod"/>
            </a:pPr>
            <a:endParaRPr lang="en-US" sz="1200" i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228600" lvl="0" indent="-228600">
              <a:buFont typeface="+mj-lt"/>
              <a:buAutoNum type="arabicPeriod"/>
            </a:pPr>
            <a:r>
              <a:rPr lang="en-US" sz="1200" b="1" u="sng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Power BI Executive Suite:</a:t>
            </a:r>
            <a:r>
              <a:rPr lang="en-US" sz="1200" i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Built for C-suite directors using a Star Schema model (</a:t>
            </a:r>
            <a:r>
              <a:rPr lang="en-US" sz="1200" i="1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Fact_TaxInvoices</a:t>
            </a:r>
            <a:r>
              <a:rPr lang="en-US" sz="1200" i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, </a:t>
            </a:r>
            <a:r>
              <a:rPr lang="en-US" sz="1200" i="1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Dim_Projects</a:t>
            </a:r>
            <a:r>
              <a:rPr lang="en-US" sz="1200" i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) with 6 DAX measures.</a:t>
            </a:r>
          </a:p>
          <a:p>
            <a:pPr marL="228600" lvl="0" indent="-228600">
              <a:buFont typeface="+mj-lt"/>
              <a:buAutoNum type="arabicPeriod"/>
            </a:pPr>
            <a:endParaRPr lang="en-US" sz="1200" i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228600" lvl="0" indent="-228600">
              <a:buFont typeface="+mj-lt"/>
              <a:buAutoNum type="arabicPeriod"/>
            </a:pPr>
            <a:r>
              <a:rPr lang="en-US" sz="1200" b="1" u="sng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Live Database Connection</a:t>
            </a:r>
            <a:r>
              <a:rPr lang="en-US" sz="1200" i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 Connects directly to SQLite (</a:t>
            </a:r>
            <a:r>
              <a:rPr lang="en-US" sz="1200" i="1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construction_project.db</a:t>
            </a:r>
            <a:r>
              <a:rPr lang="en-US" sz="1200" i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) for real-time commercial and quality auditing.</a:t>
            </a:r>
            <a:endParaRPr lang="en-US" sz="1400" i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B77D810-6A0C-4DD8-1A9E-C469F1981D4C}"/>
              </a:ext>
            </a:extLst>
          </p:cNvPr>
          <p:cNvSpPr txBox="1"/>
          <p:nvPr/>
        </p:nvSpPr>
        <p:spPr>
          <a:xfrm>
            <a:off x="6208775" y="3824768"/>
            <a:ext cx="509510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b="1" u="sng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Operational Impact &amp; Live ML Serving</a:t>
            </a:r>
            <a:endParaRPr lang="en-US" sz="1600" u="sng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DE502DB-7B3F-F789-1D8B-6B3BFE643417}"/>
              </a:ext>
            </a:extLst>
          </p:cNvPr>
          <p:cNvSpPr txBox="1"/>
          <p:nvPr/>
        </p:nvSpPr>
        <p:spPr>
          <a:xfrm>
            <a:off x="6041812" y="4245027"/>
            <a:ext cx="5586984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28600" lvl="0" indent="-228600">
              <a:buFont typeface="+mj-lt"/>
              <a:buAutoNum type="arabicPeriod"/>
            </a:pPr>
            <a:r>
              <a:rPr lang="en-US" sz="1200" b="1" u="sng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Top Executive KPI Header</a:t>
            </a:r>
            <a:r>
              <a:rPr lang="en-US" sz="1200" i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 Displays Total Invoiced Value, Vendor PO Commitment Ratio, and Concrete Pass Rate at a glance.</a:t>
            </a:r>
          </a:p>
          <a:p>
            <a:pPr marL="228600" lvl="0" indent="-228600">
              <a:buFont typeface="+mj-lt"/>
              <a:buAutoNum type="arabicPeriod"/>
            </a:pPr>
            <a:endParaRPr lang="en-US" sz="1200" i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228600" lvl="0" indent="-228600">
              <a:buFont typeface="+mj-lt"/>
              <a:buAutoNum type="arabicPeriod"/>
            </a:pPr>
            <a:r>
              <a:rPr lang="en-US" sz="1200" b="1" u="sng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What-If ML Simulator</a:t>
            </a:r>
            <a:r>
              <a:rPr lang="en-US" sz="1200" i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 Enables site engineers to adjust physical field sliders (UPV velocity, curing age, crack length) for live Random Forest predictions.</a:t>
            </a:r>
          </a:p>
          <a:p>
            <a:pPr marL="228600" lvl="0" indent="-228600">
              <a:buFont typeface="+mj-lt"/>
              <a:buAutoNum type="arabicPeriod"/>
            </a:pPr>
            <a:endParaRPr lang="en-US" sz="1200" i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228600" lvl="0" indent="-228600">
              <a:buFont typeface="+mj-lt"/>
              <a:buAutoNum type="arabicPeriod"/>
            </a:pPr>
            <a:r>
              <a:rPr lang="en-US" sz="1200" b="1" u="sng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C-Suite Value</a:t>
            </a:r>
            <a:r>
              <a:rPr lang="en-US" sz="1200" i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 Replaces slow paper site notebooks with live interactive web screens for instant decision-making.</a:t>
            </a:r>
            <a:endParaRPr lang="en-US" sz="1400" i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6D125C50-020D-5A87-941C-3A06D67FD66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5583" y="1026486"/>
            <a:ext cx="4937759" cy="3710105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3E26248A-1A4E-C398-3D37-B4CF7479586F}"/>
              </a:ext>
            </a:extLst>
          </p:cNvPr>
          <p:cNvSpPr txBox="1"/>
          <p:nvPr/>
        </p:nvSpPr>
        <p:spPr>
          <a:xfrm>
            <a:off x="0" y="6334780"/>
            <a:ext cx="801014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Project Repository:</a:t>
            </a:r>
          </a:p>
          <a:p>
            <a:r>
              <a:rPr lang="en-US" sz="1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hlinkClick r:id="rId3"/>
              </a:rPr>
              <a:t>https://github.com/Pallabi5200/Civil_Engineering_Data_Science_Project</a:t>
            </a:r>
            <a:endParaRPr lang="en-US" sz="14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9324820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EDF48026-31CC-201E-3299-830894B6A895}"/>
              </a:ext>
            </a:extLst>
          </p:cNvPr>
          <p:cNvSpPr txBox="1"/>
          <p:nvPr/>
        </p:nvSpPr>
        <p:spPr>
          <a:xfrm>
            <a:off x="1021238" y="212574"/>
            <a:ext cx="1117076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u="sng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Predictive Machine Learning Engine &amp; Feature Importance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B1C1CD75-CB6F-74F5-ADFE-35177BF9AD09}"/>
              </a:ext>
            </a:extLst>
          </p:cNvPr>
          <p:cNvSpPr/>
          <p:nvPr/>
        </p:nvSpPr>
        <p:spPr>
          <a:xfrm>
            <a:off x="5686720" y="987552"/>
            <a:ext cx="6211824" cy="2368296"/>
          </a:xfrm>
          <a:prstGeom prst="roundRect">
            <a:avLst/>
          </a:prstGeom>
          <a:ln/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FB8465C1-541D-6419-90EC-63E1A6D500E7}"/>
              </a:ext>
            </a:extLst>
          </p:cNvPr>
          <p:cNvSpPr/>
          <p:nvPr/>
        </p:nvSpPr>
        <p:spPr>
          <a:xfrm>
            <a:off x="5686720" y="3546050"/>
            <a:ext cx="6126480" cy="2598717"/>
          </a:xfrm>
          <a:prstGeom prst="roundRect">
            <a:avLst/>
          </a:prstGeom>
          <a:gradFill flip="none" rotWithShape="1">
            <a:gsLst>
              <a:gs pos="0">
                <a:schemeClr val="accent6">
                  <a:lumMod val="67000"/>
                </a:schemeClr>
              </a:gs>
              <a:gs pos="48000">
                <a:schemeClr val="accent6">
                  <a:lumMod val="97000"/>
                  <a:lumOff val="3000"/>
                </a:schemeClr>
              </a:gs>
              <a:gs pos="100000">
                <a:schemeClr val="accent6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6D099B2-5F49-AD89-2AC4-357711AB7FB5}"/>
              </a:ext>
            </a:extLst>
          </p:cNvPr>
          <p:cNvSpPr txBox="1"/>
          <p:nvPr/>
        </p:nvSpPr>
        <p:spPr>
          <a:xfrm>
            <a:off x="6236208" y="1058485"/>
            <a:ext cx="509510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b="1" u="sng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Random Forest Classifier</a:t>
            </a:r>
            <a:endParaRPr lang="en-US" sz="1600" u="sng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BB21FF8-B04A-2FED-C3B8-CEF8BC4D515A}"/>
              </a:ext>
            </a:extLst>
          </p:cNvPr>
          <p:cNvSpPr txBox="1"/>
          <p:nvPr/>
        </p:nvSpPr>
        <p:spPr>
          <a:xfrm>
            <a:off x="6096000" y="3636972"/>
            <a:ext cx="509510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b="1" u="sng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Feature Importance &amp; Scientific Insight</a:t>
            </a:r>
            <a:endParaRPr lang="en-US" sz="1600" u="sng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82E42FC-AEE3-EBA8-C2B8-B672FD6412C5}"/>
              </a:ext>
            </a:extLst>
          </p:cNvPr>
          <p:cNvSpPr txBox="1"/>
          <p:nvPr/>
        </p:nvSpPr>
        <p:spPr>
          <a:xfrm>
            <a:off x="5956468" y="1475168"/>
            <a:ext cx="5586984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28600" lvl="0" indent="-228600">
              <a:buFont typeface="+mj-lt"/>
              <a:buAutoNum type="arabicPeriod"/>
            </a:pPr>
            <a:r>
              <a:rPr lang="en-US" sz="1200" b="1" u="sng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Feature Vector &amp; Target</a:t>
            </a:r>
            <a:r>
              <a:rPr lang="en-US" sz="1200" i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 Feature inputs X = [</a:t>
            </a:r>
            <a:r>
              <a:rPr lang="en-US" sz="1200" i="1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ndt_ultrasonic_velocity</a:t>
            </a:r>
            <a:r>
              <a:rPr lang="en-US" sz="1200" i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, </a:t>
            </a:r>
            <a:r>
              <a:rPr lang="en-US" sz="1200" i="1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curing_days</a:t>
            </a:r>
            <a:r>
              <a:rPr lang="en-US" sz="1200" i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] predicting 28-day concrete compliance (</a:t>
            </a:r>
            <a:r>
              <a:rPr lang="en-US" sz="1200" i="1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is_compliant</a:t>
            </a:r>
            <a:r>
              <a:rPr lang="en-US" sz="1200" i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&gt;= 40.0 MPa).</a:t>
            </a:r>
          </a:p>
          <a:p>
            <a:pPr marL="228600" lvl="0" indent="-228600">
              <a:buFont typeface="+mj-lt"/>
              <a:buAutoNum type="arabicPeriod"/>
            </a:pPr>
            <a:endParaRPr lang="en-US" sz="1200" i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228600" lvl="0" indent="-228600">
              <a:buFont typeface="+mj-lt"/>
              <a:buAutoNum type="arabicPeriod"/>
            </a:pPr>
            <a:r>
              <a:rPr lang="en-US" sz="1200" b="1" u="sng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Two-Stage Imputation</a:t>
            </a:r>
            <a:r>
              <a:rPr lang="en-US" sz="1200" i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 Applied 2-stage median imputation (group median -&gt; global median fallback) for missing pulse velocity readings.</a:t>
            </a:r>
          </a:p>
          <a:p>
            <a:pPr marL="228600" lvl="0" indent="-228600">
              <a:buFont typeface="+mj-lt"/>
              <a:buAutoNum type="arabicPeriod"/>
            </a:pPr>
            <a:endParaRPr lang="en-US" sz="1200" i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228600" lvl="0" indent="-228600">
              <a:buFont typeface="+mj-lt"/>
              <a:buAutoNum type="arabicPeriod"/>
            </a:pPr>
            <a:r>
              <a:rPr lang="en-US" sz="1200" b="1" u="sng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Model Performance</a:t>
            </a:r>
            <a:r>
              <a:rPr lang="en-US" sz="1200" i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 Achieved 100% classification accuracy on test evaluation data with zero false positives.</a:t>
            </a:r>
            <a:endParaRPr lang="en-US" sz="1400" i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CD4652E-18D6-F4DA-319F-4062F8AF0913}"/>
              </a:ext>
            </a:extLst>
          </p:cNvPr>
          <p:cNvSpPr txBox="1"/>
          <p:nvPr/>
        </p:nvSpPr>
        <p:spPr>
          <a:xfrm>
            <a:off x="5956468" y="4060578"/>
            <a:ext cx="5586984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28600" lvl="0" indent="-228600">
              <a:buFont typeface="+mj-lt"/>
              <a:buAutoNum type="arabicPeriod"/>
            </a:pPr>
            <a:r>
              <a:rPr lang="en-US" sz="1200" b="1" u="sng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Ultrasonic Pulse Velocity (54.02%): </a:t>
            </a:r>
            <a:r>
              <a:rPr lang="en-US" sz="1200" i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Proved acoustic sound velocity (internal concrete density) is the dominant predictor of concrete strength.</a:t>
            </a:r>
          </a:p>
          <a:p>
            <a:pPr marL="228600" lvl="0" indent="-228600">
              <a:buFont typeface="+mj-lt"/>
              <a:buAutoNum type="arabicPeriod"/>
            </a:pPr>
            <a:endParaRPr lang="en-US" sz="1200" i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228600" lvl="0" indent="-228600">
              <a:buFont typeface="+mj-lt"/>
              <a:buAutoNum type="arabicPeriod"/>
            </a:pPr>
            <a:r>
              <a:rPr lang="en-US" sz="1200" b="1" u="sng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Curing Duration Age (45.98%):</a:t>
            </a:r>
            <a:r>
              <a:rPr lang="en-US" sz="1200" i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Serves as the secondary predictor for characteristic strength development over time.</a:t>
            </a:r>
          </a:p>
          <a:p>
            <a:pPr marL="228600" lvl="0" indent="-228600">
              <a:buFont typeface="+mj-lt"/>
              <a:buAutoNum type="arabicPeriod"/>
            </a:pPr>
            <a:endParaRPr lang="en-US" sz="1200" i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228600" lvl="0" indent="-228600">
              <a:buFont typeface="+mj-lt"/>
              <a:buAutoNum type="arabicPeriod"/>
            </a:pPr>
            <a:r>
              <a:rPr lang="en-US" sz="1200" b="1" u="sng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Commercial Impact: </a:t>
            </a:r>
            <a:r>
              <a:rPr lang="en-US" sz="1200" i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Proves early sound wave testing predicts 28-day compliance early, unlocking client retention funds 21-28 days faster.</a:t>
            </a:r>
            <a:endParaRPr lang="en-US" sz="1400" i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49D163CC-9840-0D2D-EEE8-6A94E72AB0B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728" y="1052268"/>
            <a:ext cx="5221900" cy="4434840"/>
          </a:xfrm>
          <a:prstGeom prst="rect">
            <a:avLst/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7E7D1513-361D-9ECC-A44C-3FDEB4BC8B1D}"/>
              </a:ext>
            </a:extLst>
          </p:cNvPr>
          <p:cNvSpPr txBox="1"/>
          <p:nvPr/>
        </p:nvSpPr>
        <p:spPr>
          <a:xfrm>
            <a:off x="0" y="6334780"/>
            <a:ext cx="801014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Project Repository:</a:t>
            </a:r>
          </a:p>
          <a:p>
            <a:r>
              <a:rPr lang="en-US" sz="1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hlinkClick r:id="rId3"/>
              </a:rPr>
              <a:t>https://github.com/Pallabi5200/Civil_Engineering_Data_Science_Project</a:t>
            </a:r>
            <a:endParaRPr lang="en-US" sz="14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3480563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3273C79D-D103-61D5-E852-D4AC719CAEC7}"/>
              </a:ext>
            </a:extLst>
          </p:cNvPr>
          <p:cNvSpPr txBox="1"/>
          <p:nvPr/>
        </p:nvSpPr>
        <p:spPr>
          <a:xfrm>
            <a:off x="510619" y="139422"/>
            <a:ext cx="1117076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b="1" u="sng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Commercial Business Impact, ROI &amp; Future Roadmap</a:t>
            </a:r>
          </a:p>
        </p:txBody>
      </p:sp>
      <p:sp>
        <p:nvSpPr>
          <p:cNvPr id="6" name="Flowchart: Process 5">
            <a:extLst>
              <a:ext uri="{FF2B5EF4-FFF2-40B4-BE49-F238E27FC236}">
                <a16:creationId xmlns:a16="http://schemas.microsoft.com/office/drawing/2014/main" id="{ACB05D5F-E18B-1BE1-4C18-35DFEB6FF9B3}"/>
              </a:ext>
            </a:extLst>
          </p:cNvPr>
          <p:cNvSpPr/>
          <p:nvPr/>
        </p:nvSpPr>
        <p:spPr>
          <a:xfrm>
            <a:off x="1184148" y="2310051"/>
            <a:ext cx="3319272" cy="649224"/>
          </a:xfrm>
          <a:prstGeom prst="flowChartProcess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Flowchart: Process 7">
            <a:extLst>
              <a:ext uri="{FF2B5EF4-FFF2-40B4-BE49-F238E27FC236}">
                <a16:creationId xmlns:a16="http://schemas.microsoft.com/office/drawing/2014/main" id="{7B42508A-A487-AE0C-09E2-F0BC729EBCFC}"/>
              </a:ext>
            </a:extLst>
          </p:cNvPr>
          <p:cNvSpPr/>
          <p:nvPr/>
        </p:nvSpPr>
        <p:spPr>
          <a:xfrm>
            <a:off x="1149096" y="3627121"/>
            <a:ext cx="3319272" cy="649224"/>
          </a:xfrm>
          <a:prstGeom prst="flowChartProcess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lowchart: Process 9">
            <a:extLst>
              <a:ext uri="{FF2B5EF4-FFF2-40B4-BE49-F238E27FC236}">
                <a16:creationId xmlns:a16="http://schemas.microsoft.com/office/drawing/2014/main" id="{E58647BC-6674-C831-FF5E-876F03B16147}"/>
              </a:ext>
            </a:extLst>
          </p:cNvPr>
          <p:cNvSpPr/>
          <p:nvPr/>
        </p:nvSpPr>
        <p:spPr>
          <a:xfrm>
            <a:off x="1184148" y="4944191"/>
            <a:ext cx="3319272" cy="649224"/>
          </a:xfrm>
          <a:prstGeom prst="flowChartProcess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7E33CB6A-950B-7DE9-AD5E-75D84735652F}"/>
              </a:ext>
            </a:extLst>
          </p:cNvPr>
          <p:cNvSpPr/>
          <p:nvPr/>
        </p:nvSpPr>
        <p:spPr>
          <a:xfrm>
            <a:off x="996696" y="855636"/>
            <a:ext cx="3383280" cy="1229789"/>
          </a:xfrm>
          <a:prstGeom prst="ellipse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Arrow: Down 11">
            <a:extLst>
              <a:ext uri="{FF2B5EF4-FFF2-40B4-BE49-F238E27FC236}">
                <a16:creationId xmlns:a16="http://schemas.microsoft.com/office/drawing/2014/main" id="{945EFAB0-0685-F8F7-3E8D-57850F0B1AB0}"/>
              </a:ext>
            </a:extLst>
          </p:cNvPr>
          <p:cNvSpPr/>
          <p:nvPr/>
        </p:nvSpPr>
        <p:spPr>
          <a:xfrm>
            <a:off x="2596896" y="2977898"/>
            <a:ext cx="246888" cy="649224"/>
          </a:xfrm>
          <a:prstGeom prst="downArrow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Arrow: Down 12">
            <a:extLst>
              <a:ext uri="{FF2B5EF4-FFF2-40B4-BE49-F238E27FC236}">
                <a16:creationId xmlns:a16="http://schemas.microsoft.com/office/drawing/2014/main" id="{AC79938E-6A56-C5B0-D5DA-F393B4D499BD}"/>
              </a:ext>
            </a:extLst>
          </p:cNvPr>
          <p:cNvSpPr/>
          <p:nvPr/>
        </p:nvSpPr>
        <p:spPr>
          <a:xfrm>
            <a:off x="2642615" y="4276345"/>
            <a:ext cx="246888" cy="649224"/>
          </a:xfrm>
          <a:prstGeom prst="downArrow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40CC259F-EF16-9894-AECB-DAEBE71B7316}"/>
              </a:ext>
            </a:extLst>
          </p:cNvPr>
          <p:cNvSpPr txBox="1"/>
          <p:nvPr/>
        </p:nvSpPr>
        <p:spPr>
          <a:xfrm>
            <a:off x="140781" y="1178570"/>
            <a:ext cx="509510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b="1" u="sng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ROI Architecture Flowchart </a:t>
            </a:r>
            <a:endParaRPr lang="en-US" sz="1600" u="sng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C956F21C-782A-CCE2-96C8-5B57FB641864}"/>
              </a:ext>
            </a:extLst>
          </p:cNvPr>
          <p:cNvSpPr txBox="1"/>
          <p:nvPr/>
        </p:nvSpPr>
        <p:spPr>
          <a:xfrm>
            <a:off x="261177" y="2414717"/>
            <a:ext cx="509510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Early Sound Wave NDT</a:t>
            </a:r>
            <a:endParaRPr lang="en-US" sz="16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2319F6E-C495-B176-50B6-20D12CF8A538}"/>
              </a:ext>
            </a:extLst>
          </p:cNvPr>
          <p:cNvSpPr txBox="1"/>
          <p:nvPr/>
        </p:nvSpPr>
        <p:spPr>
          <a:xfrm>
            <a:off x="261176" y="3756119"/>
            <a:ext cx="509510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Machine Learning Engine</a:t>
            </a:r>
            <a:endParaRPr lang="en-US" sz="16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42935658-E553-AF5C-47CE-D40EDA27989D}"/>
              </a:ext>
            </a:extLst>
          </p:cNvPr>
          <p:cNvSpPr txBox="1"/>
          <p:nvPr/>
        </p:nvSpPr>
        <p:spPr>
          <a:xfrm>
            <a:off x="341948" y="5097521"/>
            <a:ext cx="509510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21-28 Days Faster Retention Payouts</a:t>
            </a:r>
            <a:endParaRPr lang="en-US" sz="16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0D84DAFD-9C42-C2FC-54E6-955DCB41742E}"/>
              </a:ext>
            </a:extLst>
          </p:cNvPr>
          <p:cNvSpPr/>
          <p:nvPr/>
        </p:nvSpPr>
        <p:spPr>
          <a:xfrm>
            <a:off x="5686720" y="987552"/>
            <a:ext cx="6211824" cy="2368296"/>
          </a:xfrm>
          <a:prstGeom prst="roundRect">
            <a:avLst/>
          </a:prstGeom>
          <a:ln/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DF4AEB51-F95F-1B09-BB73-AC50AC9A2A1E}"/>
              </a:ext>
            </a:extLst>
          </p:cNvPr>
          <p:cNvSpPr/>
          <p:nvPr/>
        </p:nvSpPr>
        <p:spPr>
          <a:xfrm>
            <a:off x="5686720" y="3546050"/>
            <a:ext cx="6126480" cy="2598717"/>
          </a:xfrm>
          <a:prstGeom prst="roundRect">
            <a:avLst/>
          </a:prstGeom>
          <a:gradFill flip="none" rotWithShape="1">
            <a:gsLst>
              <a:gs pos="0">
                <a:schemeClr val="accent6">
                  <a:lumMod val="67000"/>
                </a:schemeClr>
              </a:gs>
              <a:gs pos="48000">
                <a:schemeClr val="accent6">
                  <a:lumMod val="97000"/>
                  <a:lumOff val="3000"/>
                </a:schemeClr>
              </a:gs>
              <a:gs pos="100000">
                <a:schemeClr val="accent6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6FF9BA95-E0C2-5985-7DB3-B6F3667D8A22}"/>
              </a:ext>
            </a:extLst>
          </p:cNvPr>
          <p:cNvSpPr txBox="1"/>
          <p:nvPr/>
        </p:nvSpPr>
        <p:spPr>
          <a:xfrm>
            <a:off x="0" y="6334780"/>
            <a:ext cx="801014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Project Repository:</a:t>
            </a:r>
          </a:p>
          <a:p>
            <a:r>
              <a:rPr lang="en-US" sz="1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hlinkClick r:id="rId2"/>
              </a:rPr>
              <a:t>https://github.com/Pallabi5200/Civil_Engineering_Data_Science_Project</a:t>
            </a:r>
            <a:endParaRPr lang="en-US" sz="14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EE752B0A-C075-BFA8-ACB2-8009656C1BBE}"/>
              </a:ext>
            </a:extLst>
          </p:cNvPr>
          <p:cNvSpPr txBox="1"/>
          <p:nvPr/>
        </p:nvSpPr>
        <p:spPr>
          <a:xfrm>
            <a:off x="6236208" y="1058485"/>
            <a:ext cx="509510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b="1" u="sng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Quantified Commercial ROI &amp; Business Impact</a:t>
            </a:r>
            <a:endParaRPr lang="en-US" sz="1600" u="sng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E37EFD1C-1F75-9339-5FC4-7A62D6B2ECF1}"/>
              </a:ext>
            </a:extLst>
          </p:cNvPr>
          <p:cNvSpPr txBox="1"/>
          <p:nvPr/>
        </p:nvSpPr>
        <p:spPr>
          <a:xfrm>
            <a:off x="6245077" y="3754126"/>
            <a:ext cx="509510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b="1" u="sng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Technical Future Roadmap</a:t>
            </a:r>
            <a:endParaRPr lang="en-US" sz="1600" u="sng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C6F64429-8578-ED2A-E23E-D81A0C0491DF}"/>
              </a:ext>
            </a:extLst>
          </p:cNvPr>
          <p:cNvSpPr txBox="1"/>
          <p:nvPr/>
        </p:nvSpPr>
        <p:spPr>
          <a:xfrm>
            <a:off x="5956468" y="1532485"/>
            <a:ext cx="5586984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28600" lvl="0" indent="-228600">
              <a:buFont typeface="+mj-lt"/>
              <a:buAutoNum type="arabicPeriod"/>
            </a:pPr>
            <a:r>
              <a:rPr lang="en-US" sz="1200" b="1" u="sng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Retention Cash Flow Acceleration</a:t>
            </a:r>
            <a:r>
              <a:rPr lang="en-US" sz="1200" i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 Unlocks 5%-10% client retention payment funds 21 to 28 days faster using early non-destructive UPV strength verification.</a:t>
            </a:r>
          </a:p>
          <a:p>
            <a:pPr marL="228600" lvl="0" indent="-228600">
              <a:buFont typeface="+mj-lt"/>
              <a:buAutoNum type="arabicPeriod"/>
            </a:pPr>
            <a:endParaRPr lang="en-US" sz="1200" i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228600" lvl="0" indent="-228600">
              <a:buFont typeface="+mj-lt"/>
              <a:buAutoNum type="arabicPeriod"/>
            </a:pPr>
            <a:r>
              <a:rPr lang="en-US" sz="1200" b="1" u="sng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100% Subcontractor Overrun Protection</a:t>
            </a:r>
            <a:r>
              <a:rPr lang="en-US" sz="1200" i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 Automated SQL CTE risk alerts flag vendor orders at 80%+ budget caps, protecting contractor profit margins.</a:t>
            </a:r>
          </a:p>
          <a:p>
            <a:pPr marL="228600" lvl="0" indent="-228600">
              <a:buFont typeface="+mj-lt"/>
              <a:buAutoNum type="arabicPeriod"/>
            </a:pPr>
            <a:endParaRPr lang="en-US" sz="1200" i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228600" lvl="0" indent="-228600">
              <a:buFont typeface="+mj-lt"/>
              <a:buAutoNum type="arabicPeriod"/>
            </a:pPr>
            <a:r>
              <a:rPr lang="en-US" sz="1200" b="1" u="sng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100% Quality Accuracy</a:t>
            </a:r>
            <a:r>
              <a:rPr lang="en-US" sz="1200" i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 Achieved 100% predictive compliance accuracy across wind turbine foundations, epoxy grouting, and industrial storage sheds.</a:t>
            </a:r>
            <a:endParaRPr lang="en-US" sz="1400" i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1368C5DB-877D-C94E-57E2-C811C0D81332}"/>
              </a:ext>
            </a:extLst>
          </p:cNvPr>
          <p:cNvSpPr txBox="1"/>
          <p:nvPr/>
        </p:nvSpPr>
        <p:spPr>
          <a:xfrm>
            <a:off x="5951048" y="4215466"/>
            <a:ext cx="5586984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28600" lvl="0" indent="-228600">
              <a:buFont typeface="+mj-lt"/>
              <a:buAutoNum type="arabicPeriod"/>
            </a:pPr>
            <a:r>
              <a:rPr lang="en-US" sz="1200" b="1" u="sng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Embedded IoT Acoustic Sensors</a:t>
            </a:r>
            <a:r>
              <a:rPr lang="en-US" sz="1200" i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 Plans for real-time sensors inside concrete pours to stream live acoustic velocity data directly to the database.</a:t>
            </a:r>
          </a:p>
          <a:p>
            <a:pPr marL="228600" lvl="0" indent="-228600">
              <a:buFont typeface="+mj-lt"/>
              <a:buAutoNum type="arabicPeriod"/>
            </a:pPr>
            <a:endParaRPr lang="en-US" sz="1200" i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228600" lvl="0" indent="-228600">
              <a:buFont typeface="+mj-lt"/>
              <a:buAutoNum type="arabicPeriod"/>
            </a:pPr>
            <a:r>
              <a:rPr lang="en-US" sz="1200" b="1" u="sng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Drone Photogrammetry Integration: </a:t>
            </a:r>
            <a:r>
              <a:rPr lang="en-US" sz="1200" i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Aerial crack detection and automated surface defect measurements integrated with multi-class damage triage models.</a:t>
            </a:r>
            <a:endParaRPr lang="en-US" sz="1400" i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44819669"/>
      </p:ext>
    </p:extLst>
  </p:cSld>
  <p:clrMapOvr>
    <a:masterClrMapping/>
  </p:clrMapOvr>
</p:sld>
</file>

<file path=ppt/theme/theme1.xml><?xml version="1.0" encoding="utf-8"?>
<a:theme xmlns:a="http://schemas.openxmlformats.org/drawingml/2006/main" name="Shoji">
  <a:themeElements>
    <a:clrScheme name="Shoji">
      <a:dk1>
        <a:srgbClr val="131313"/>
      </a:dk1>
      <a:lt1>
        <a:sysClr val="window" lastClr="FFFFFF"/>
      </a:lt1>
      <a:dk2>
        <a:srgbClr val="1D3433"/>
      </a:dk2>
      <a:lt2>
        <a:srgbClr val="F3F2ED"/>
      </a:lt2>
      <a:accent1>
        <a:srgbClr val="7C5C3E"/>
      </a:accent1>
      <a:accent2>
        <a:srgbClr val="B8A189"/>
      </a:accent2>
      <a:accent3>
        <a:srgbClr val="A1A696"/>
      </a:accent3>
      <a:accent4>
        <a:srgbClr val="566868"/>
      </a:accent4>
      <a:accent5>
        <a:srgbClr val="786F50"/>
      </a:accent5>
      <a:accent6>
        <a:srgbClr val="A9A375"/>
      </a:accent6>
      <a:hlink>
        <a:srgbClr val="B1785F"/>
      </a:hlink>
      <a:folHlink>
        <a:srgbClr val="6C7F7F"/>
      </a:folHlink>
    </a:clrScheme>
    <a:fontScheme name="Custom 35">
      <a:majorFont>
        <a:latin typeface="Walbaum Display"/>
        <a:ea typeface=""/>
        <a:cs typeface=""/>
      </a:majorFont>
      <a:minorFont>
        <a:latin typeface="Aptos Ligh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Shoji" id="{FC7F6458-703E-4B19-BAF9-E88A9B02521B}" vid="{6FBA4037-BA28-4926-BD89-6C54034403AD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Shoji</Template>
  <TotalTime>364</TotalTime>
  <Words>1741</Words>
  <Application>Microsoft Office PowerPoint</Application>
  <PresentationFormat>Widescreen</PresentationFormat>
  <Paragraphs>170</Paragraphs>
  <Slides>11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6" baseType="lpstr">
      <vt:lpstr>Aptos Light</vt:lpstr>
      <vt:lpstr>Arial</vt:lpstr>
      <vt:lpstr>Calibri</vt:lpstr>
      <vt:lpstr>Walbaum Display</vt:lpstr>
      <vt:lpstr>Shoji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Vijaykumar Bhattacharji</dc:creator>
  <cp:lastModifiedBy>Vijaykumar Bhattacharji</cp:lastModifiedBy>
  <cp:revision>33</cp:revision>
  <dcterms:created xsi:type="dcterms:W3CDTF">2026-07-30T05:08:02Z</dcterms:created>
  <dcterms:modified xsi:type="dcterms:W3CDTF">2026-07-31T10:06:20Z</dcterms:modified>
</cp:coreProperties>
</file>