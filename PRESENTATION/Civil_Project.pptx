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15687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00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2277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077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484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010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776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0672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803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375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17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020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760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023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267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4765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7517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9134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113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747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0525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9163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6987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1730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2134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6139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953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1F7CDA35-5897-4A2A-8C79-713D161389E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6193B091-68BE-4CA8-985B-3C4C0320B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7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36" r:id="rId19"/>
    <p:sldLayoutId id="2147483737" r:id="rId20"/>
    <p:sldLayoutId id="2147483738" r:id="rId21"/>
    <p:sldLayoutId id="2147483739" r:id="rId22"/>
    <p:sldLayoutId id="2147483740" r:id="rId23"/>
    <p:sldLayoutId id="2147483741" r:id="rId24"/>
    <p:sldLayoutId id="2147483742" r:id="rId25"/>
    <p:sldLayoutId id="2147483743" r:id="rId26"/>
    <p:sldLayoutId id="2147483744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llabi5200/Civil_Engineering_Data_Science_Project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Relationship Id="rId4" Type="http://schemas.openxmlformats.org/officeDocument/2006/relationships/hyperlink" Target="https://github.com/Pallabi5200/Civil_Engineering_Data_Science_Project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allabi5200/Civil_Engineering_Data_Science_Project" TargetMode="Externa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allabi5200/Civil_Engineering_Data_Science_Project" TargetMode="Externa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allabi5200/Civil_Engineering_Data_Science_Project" TargetMode="Externa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llabi5200/Civil_Engineering_Data_Science_Project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0A7FC8-B2DB-2E82-2BFD-6810D552D14B}"/>
              </a:ext>
            </a:extLst>
          </p:cNvPr>
          <p:cNvSpPr txBox="1"/>
          <p:nvPr/>
        </p:nvSpPr>
        <p:spPr>
          <a:xfrm>
            <a:off x="310896" y="539496"/>
            <a:ext cx="11055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Civil Construction Intelligence &amp; Analytics Engine</a:t>
            </a:r>
            <a:endParaRPr lang="en-US" sz="40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3F69B2-E44E-9BC5-7C3F-5AB618C07E45}"/>
              </a:ext>
            </a:extLst>
          </p:cNvPr>
          <p:cNvSpPr txBox="1"/>
          <p:nvPr/>
        </p:nvSpPr>
        <p:spPr>
          <a:xfrm>
            <a:off x="382539" y="1325880"/>
            <a:ext cx="66385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End-to-End SQL Analytics, Predictive Machine Learning &amp; Executive Dashboards for EPC Projects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1E6001-C08A-65E5-1F71-6533648A4584}"/>
              </a:ext>
            </a:extLst>
          </p:cNvPr>
          <p:cNvSpPr txBox="1"/>
          <p:nvPr/>
        </p:nvSpPr>
        <p:spPr>
          <a:xfrm>
            <a:off x="493776" y="2532888"/>
            <a:ext cx="3712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By: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Pallabi Mukherjee</a:t>
            </a:r>
          </a:p>
        </p:txBody>
      </p:sp>
      <p:pic>
        <p:nvPicPr>
          <p:cNvPr id="7" name="Picture 6" descr="These Energy-Efficient Builders Are Reshaping Construction's Green ...">
            <a:extLst>
              <a:ext uri="{FF2B5EF4-FFF2-40B4-BE49-F238E27FC236}">
                <a16:creationId xmlns:a16="http://schemas.microsoft.com/office/drawing/2014/main" id="{B5709FDD-70FB-FC05-6663-431F16FB7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827" y="2112264"/>
            <a:ext cx="5631165" cy="32160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57A759-4423-724E-BA36-5F19B5B77673}"/>
              </a:ext>
            </a:extLst>
          </p:cNvPr>
          <p:cNvSpPr txBox="1"/>
          <p:nvPr/>
        </p:nvSpPr>
        <p:spPr>
          <a:xfrm>
            <a:off x="6172200" y="6193167"/>
            <a:ext cx="8010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Repository: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https://github.com/Pallabi5200/Civil_Engineering_Data_Science_Project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534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3BAA7F-179F-9F2B-0ADE-4E8D9452634D}"/>
              </a:ext>
            </a:extLst>
          </p:cNvPr>
          <p:cNvSpPr txBox="1"/>
          <p:nvPr/>
        </p:nvSpPr>
        <p:spPr>
          <a:xfrm>
            <a:off x="3145536" y="210312"/>
            <a:ext cx="5577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Industry Challenges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E758348-0291-4CF6-2D11-6E21CD2A86DB}"/>
              </a:ext>
            </a:extLst>
          </p:cNvPr>
          <p:cNvSpPr/>
          <p:nvPr/>
        </p:nvSpPr>
        <p:spPr>
          <a:xfrm>
            <a:off x="585216" y="864765"/>
            <a:ext cx="6172200" cy="1389887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7FF6AD-3EF8-7B16-6610-F0CA3EC328CB}"/>
              </a:ext>
            </a:extLst>
          </p:cNvPr>
          <p:cNvSpPr/>
          <p:nvPr/>
        </p:nvSpPr>
        <p:spPr>
          <a:xfrm>
            <a:off x="585216" y="2562935"/>
            <a:ext cx="6172200" cy="166420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3B1A811-B521-179C-E074-DECCE9A1BE23}"/>
              </a:ext>
            </a:extLst>
          </p:cNvPr>
          <p:cNvSpPr/>
          <p:nvPr/>
        </p:nvSpPr>
        <p:spPr>
          <a:xfrm>
            <a:off x="521208" y="4471418"/>
            <a:ext cx="6236208" cy="159105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EFE5ED-ABBF-14F2-42F2-F2495DD781E5}"/>
              </a:ext>
            </a:extLst>
          </p:cNvPr>
          <p:cNvSpPr txBox="1"/>
          <p:nvPr/>
        </p:nvSpPr>
        <p:spPr>
          <a:xfrm>
            <a:off x="786384" y="943667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28-Day Concrete Curing Delay</a:t>
            </a:r>
            <a:endParaRPr lang="en-US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54ADBD-5E85-363E-8BC6-0CD712B9E1A3}"/>
              </a:ext>
            </a:extLst>
          </p:cNvPr>
          <p:cNvSpPr txBox="1"/>
          <p:nvPr/>
        </p:nvSpPr>
        <p:spPr>
          <a:xfrm>
            <a:off x="786384" y="1347838"/>
            <a:ext cx="5788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Clients hold 5%–10% payment retention for 28 full days waiting for laboratory concrete cube tests, locking up site cash flow.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981433-A0A3-52D8-86D6-B304433196D1}"/>
              </a:ext>
            </a:extLst>
          </p:cNvPr>
          <p:cNvSpPr txBox="1"/>
          <p:nvPr/>
        </p:nvSpPr>
        <p:spPr>
          <a:xfrm>
            <a:off x="845820" y="2737725"/>
            <a:ext cx="338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Subcontractor Budget Overruns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A26011-7948-410B-296E-9FD73FA3446F}"/>
              </a:ext>
            </a:extLst>
          </p:cNvPr>
          <p:cNvSpPr txBox="1"/>
          <p:nvPr/>
        </p:nvSpPr>
        <p:spPr>
          <a:xfrm>
            <a:off x="845820" y="3167390"/>
            <a:ext cx="4599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Purchase orders issued to sub-contractors often exceed Work Order budget ceilings without early warning.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C3EBEB-933B-0D09-C29C-7ADE8B402468}"/>
              </a:ext>
            </a:extLst>
          </p:cNvPr>
          <p:cNvSpPr txBox="1"/>
          <p:nvPr/>
        </p:nvSpPr>
        <p:spPr>
          <a:xfrm>
            <a:off x="1005840" y="4590288"/>
            <a:ext cx="305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Paper Register Chaos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A818C7-58FE-7D4E-613C-081753D074AD}"/>
              </a:ext>
            </a:extLst>
          </p:cNvPr>
          <p:cNvSpPr txBox="1"/>
          <p:nvPr/>
        </p:nvSpPr>
        <p:spPr>
          <a:xfrm>
            <a:off x="1005840" y="5005336"/>
            <a:ext cx="509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 lab test results, daily activity logs, and physical defect reports are trapped in handwritten paper notebooks.</a:t>
            </a:r>
          </a:p>
        </p:txBody>
      </p:sp>
      <p:pic>
        <p:nvPicPr>
          <p:cNvPr id="16" name="Picture 15" descr="Concrete Cube Compression Testing Machine - Compression Testing Machine ...">
            <a:extLst>
              <a:ext uri="{FF2B5EF4-FFF2-40B4-BE49-F238E27FC236}">
                <a16:creationId xmlns:a16="http://schemas.microsoft.com/office/drawing/2014/main" id="{BF8920EA-0A86-D177-3B37-5A8AE0C71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9088" y="304533"/>
            <a:ext cx="3364564" cy="31682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D26D430-FC28-5D63-1319-61A041B8F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509" y="3780305"/>
            <a:ext cx="3863721" cy="21682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C87066-23B6-93D9-35D1-A1754B58A445}"/>
              </a:ext>
            </a:extLst>
          </p:cNvPr>
          <p:cNvSpPr txBox="1"/>
          <p:nvPr/>
        </p:nvSpPr>
        <p:spPr>
          <a:xfrm>
            <a:off x="6693408" y="6291857"/>
            <a:ext cx="8010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Repository: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https://github.com/Pallabi5200/Civil_Engineering_Data_Science_Project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603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56A47D-6FB9-6B85-DAF2-14C88526AE41}"/>
              </a:ext>
            </a:extLst>
          </p:cNvPr>
          <p:cNvSpPr txBox="1"/>
          <p:nvPr/>
        </p:nvSpPr>
        <p:spPr>
          <a:xfrm>
            <a:off x="2980944" y="146304"/>
            <a:ext cx="70683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Solution &amp; Business Impact</a:t>
            </a:r>
          </a:p>
          <a:p>
            <a:endParaRPr lang="en-US" sz="32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63B981B-9148-D090-DFE3-5D98ACDFB116}"/>
              </a:ext>
            </a:extLst>
          </p:cNvPr>
          <p:cNvSpPr/>
          <p:nvPr/>
        </p:nvSpPr>
        <p:spPr>
          <a:xfrm>
            <a:off x="390144" y="1005840"/>
            <a:ext cx="5705856" cy="1152144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55C605F-1694-2D5B-ED19-3799ACB390AE}"/>
              </a:ext>
            </a:extLst>
          </p:cNvPr>
          <p:cNvSpPr/>
          <p:nvPr/>
        </p:nvSpPr>
        <p:spPr>
          <a:xfrm>
            <a:off x="390144" y="2468880"/>
            <a:ext cx="5705856" cy="1289304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2B9452F-F53F-512C-4295-024B48E895AC}"/>
              </a:ext>
            </a:extLst>
          </p:cNvPr>
          <p:cNvSpPr/>
          <p:nvPr/>
        </p:nvSpPr>
        <p:spPr>
          <a:xfrm>
            <a:off x="390144" y="4023360"/>
            <a:ext cx="5705856" cy="1252728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1028934-577C-66E1-487E-7943AA58FBB3}"/>
              </a:ext>
            </a:extLst>
          </p:cNvPr>
          <p:cNvSpPr/>
          <p:nvPr/>
        </p:nvSpPr>
        <p:spPr>
          <a:xfrm>
            <a:off x="6601968" y="950976"/>
            <a:ext cx="5257800" cy="107721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02EAC8-01F4-1A68-FEC4-746024A09A66}"/>
              </a:ext>
            </a:extLst>
          </p:cNvPr>
          <p:cNvSpPr/>
          <p:nvPr/>
        </p:nvSpPr>
        <p:spPr>
          <a:xfrm>
            <a:off x="6542532" y="2388358"/>
            <a:ext cx="5376672" cy="1289304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A28E36-8EE6-2DBA-A247-E24D7FEB2A0F}"/>
              </a:ext>
            </a:extLst>
          </p:cNvPr>
          <p:cNvSpPr/>
          <p:nvPr/>
        </p:nvSpPr>
        <p:spPr>
          <a:xfrm>
            <a:off x="6542532" y="4043851"/>
            <a:ext cx="5317236" cy="125272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B5625D-9A5A-2060-5CFC-11BDF852A2C2}"/>
              </a:ext>
            </a:extLst>
          </p:cNvPr>
          <p:cNvSpPr txBox="1"/>
          <p:nvPr/>
        </p:nvSpPr>
        <p:spPr>
          <a:xfrm>
            <a:off x="601980" y="1022003"/>
            <a:ext cx="3136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3NF Relational Database</a:t>
            </a:r>
            <a:endParaRPr lang="en-US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EE4604-A87E-9C0F-8C61-BBCF39ABDC5F}"/>
              </a:ext>
            </a:extLst>
          </p:cNvPr>
          <p:cNvSpPr txBox="1"/>
          <p:nvPr/>
        </p:nvSpPr>
        <p:spPr>
          <a:xfrm>
            <a:off x="509016" y="1321743"/>
            <a:ext cx="55869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Unified 7 paper registers into a central SQLite database (</a:t>
            </a:r>
            <a:r>
              <a:rPr lang="en-US" sz="12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construction_project.db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lvl="0"/>
            <a:r>
              <a:rPr lang="en-US" sz="1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SQL Financial Engine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Tracked progressive billing using SUM() OVER and flagged vendor overrun risks using CASE WHEN.</a:t>
            </a:r>
          </a:p>
          <a:p>
            <a:endParaRPr lang="en-US" sz="1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63EDA5-16B3-70F7-CA6B-45C7E6C0B3D0}"/>
              </a:ext>
            </a:extLst>
          </p:cNvPr>
          <p:cNvSpPr txBox="1"/>
          <p:nvPr/>
        </p:nvSpPr>
        <p:spPr>
          <a:xfrm>
            <a:off x="509016" y="2499420"/>
            <a:ext cx="3401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Predictive ML Engine</a:t>
            </a:r>
            <a:endParaRPr lang="en-US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54F104-FCBF-C59B-BF9B-F975674B098F}"/>
              </a:ext>
            </a:extLst>
          </p:cNvPr>
          <p:cNvSpPr txBox="1"/>
          <p:nvPr/>
        </p:nvSpPr>
        <p:spPr>
          <a:xfrm>
            <a:off x="509016" y="2788134"/>
            <a:ext cx="54803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 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 28-day concrete strength early using non-destructive sound wave testing (UPV) and Random Forest models.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2C9D58-22B7-4F5E-7ABF-CC102E2A736B}"/>
              </a:ext>
            </a:extLst>
          </p:cNvPr>
          <p:cNvSpPr txBox="1"/>
          <p:nvPr/>
        </p:nvSpPr>
        <p:spPr>
          <a:xfrm>
            <a:off x="758952" y="4114800"/>
            <a:ext cx="3986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Dashboards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94BFFD-32F1-BD00-5DDC-13F487B658CE}"/>
              </a:ext>
            </a:extLst>
          </p:cNvPr>
          <p:cNvSpPr txBox="1"/>
          <p:nvPr/>
        </p:nvSpPr>
        <p:spPr>
          <a:xfrm>
            <a:off x="758952" y="4441531"/>
            <a:ext cx="48173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 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Deployed a live </a:t>
            </a:r>
            <a:r>
              <a:rPr lang="en-US" sz="12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 app (app.py) for ML serving and a Power BI   Star Schema executive dashboard.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A1D51D-4421-4FBD-748C-64CDDBB7AA11}"/>
              </a:ext>
            </a:extLst>
          </p:cNvPr>
          <p:cNvSpPr txBox="1"/>
          <p:nvPr/>
        </p:nvSpPr>
        <p:spPr>
          <a:xfrm>
            <a:off x="6839712" y="983189"/>
            <a:ext cx="4425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21–28 Days Faster Cash Flow</a:t>
            </a:r>
            <a:endParaRPr lang="en-US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2B60C5-C10E-897F-6988-0BFFB1ACB545}"/>
              </a:ext>
            </a:extLst>
          </p:cNvPr>
          <p:cNvSpPr txBox="1"/>
          <p:nvPr/>
        </p:nvSpPr>
        <p:spPr>
          <a:xfrm>
            <a:off x="6839712" y="1290965"/>
            <a:ext cx="5138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Accelerated client retention payment collection using early sound wave ML compliance predictions.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BAC1EE-ECA4-2D88-CF93-C0AA3A97C3EA}"/>
              </a:ext>
            </a:extLst>
          </p:cNvPr>
          <p:cNvSpPr txBox="1"/>
          <p:nvPr/>
        </p:nvSpPr>
        <p:spPr>
          <a:xfrm>
            <a:off x="6839712" y="2486579"/>
            <a:ext cx="3401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494A91-EB0E-1854-2359-A629ADC30D48}"/>
              </a:ext>
            </a:extLst>
          </p:cNvPr>
          <p:cNvSpPr txBox="1"/>
          <p:nvPr/>
        </p:nvSpPr>
        <p:spPr>
          <a:xfrm>
            <a:off x="6839712" y="2464409"/>
            <a:ext cx="3401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100% Budget Overrun Protection</a:t>
            </a:r>
            <a:endParaRPr lang="en-US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F096A6-302B-5806-63F4-4BE014FF3DC8}"/>
              </a:ext>
            </a:extLst>
          </p:cNvPr>
          <p:cNvSpPr txBox="1"/>
          <p:nvPr/>
        </p:nvSpPr>
        <p:spPr>
          <a:xfrm>
            <a:off x="6839712" y="2811424"/>
            <a:ext cx="54803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 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early risk alerts whenever contractor purchase orders reached 80%+ budget limits.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184C24-FF94-5D69-EA5D-3D7154B6D39F}"/>
              </a:ext>
            </a:extLst>
          </p:cNvPr>
          <p:cNvSpPr txBox="1"/>
          <p:nvPr/>
        </p:nvSpPr>
        <p:spPr>
          <a:xfrm>
            <a:off x="6729984" y="4114800"/>
            <a:ext cx="3986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100% Concrete Quality Accuracy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A61D3D-955B-5AB9-10CA-7B55DA85E80A}"/>
              </a:ext>
            </a:extLst>
          </p:cNvPr>
          <p:cNvSpPr txBox="1"/>
          <p:nvPr/>
        </p:nvSpPr>
        <p:spPr>
          <a:xfrm>
            <a:off x="6601968" y="4455291"/>
            <a:ext cx="4817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 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Guaranteed predictive compliance classification on structural concrete.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7C06A7-AF71-2EF4-A486-FD9BF5B7A127}"/>
              </a:ext>
            </a:extLst>
          </p:cNvPr>
          <p:cNvSpPr txBox="1"/>
          <p:nvPr/>
        </p:nvSpPr>
        <p:spPr>
          <a:xfrm>
            <a:off x="6236208" y="6188476"/>
            <a:ext cx="8010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Repository: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https://github.com/Pallabi5200/Civil_Engineering_Data_Science_Project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738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B60A69-39D8-3720-2865-FF6369E7D5D5}"/>
              </a:ext>
            </a:extLst>
          </p:cNvPr>
          <p:cNvSpPr txBox="1"/>
          <p:nvPr/>
        </p:nvSpPr>
        <p:spPr>
          <a:xfrm>
            <a:off x="2347275" y="273377"/>
            <a:ext cx="81070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Architecture (3NF Relational Model)</a:t>
            </a:r>
          </a:p>
          <a:p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B11A827-C1E7-B75E-934B-B07DE7BA784F}"/>
              </a:ext>
            </a:extLst>
          </p:cNvPr>
          <p:cNvSpPr/>
          <p:nvPr/>
        </p:nvSpPr>
        <p:spPr>
          <a:xfrm>
            <a:off x="405352" y="948929"/>
            <a:ext cx="5410985" cy="87356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5855F7-1609-390A-61C9-9AC72D938CEF}"/>
              </a:ext>
            </a:extLst>
          </p:cNvPr>
          <p:cNvSpPr txBox="1"/>
          <p:nvPr/>
        </p:nvSpPr>
        <p:spPr>
          <a:xfrm>
            <a:off x="1159496" y="1168896"/>
            <a:ext cx="4534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 Concept &amp; 3NF Benefits</a:t>
            </a:r>
            <a:endParaRPr lang="en-US" sz="20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B4313-9131-5394-C5A1-41F3D94C517F}"/>
              </a:ext>
            </a:extLst>
          </p:cNvPr>
          <p:cNvSpPr/>
          <p:nvPr/>
        </p:nvSpPr>
        <p:spPr>
          <a:xfrm>
            <a:off x="471339" y="1946135"/>
            <a:ext cx="5279010" cy="374297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2D21C-A7B8-1D20-7D68-AC76945AC8A4}"/>
              </a:ext>
            </a:extLst>
          </p:cNvPr>
          <p:cNvSpPr txBox="1"/>
          <p:nvPr/>
        </p:nvSpPr>
        <p:spPr>
          <a:xfrm>
            <a:off x="658541" y="2042464"/>
            <a:ext cx="3136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 Digital Drawers Analogy</a:t>
            </a:r>
            <a:endParaRPr lang="en-US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97D2AB-CA1C-FB6F-8855-93E74AA820E1}"/>
              </a:ext>
            </a:extLst>
          </p:cNvPr>
          <p:cNvSpPr txBox="1"/>
          <p:nvPr/>
        </p:nvSpPr>
        <p:spPr>
          <a:xfrm>
            <a:off x="673348" y="2475232"/>
            <a:ext cx="5099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Unified 7 paper site registers into a central SQLite database (</a:t>
            </a:r>
            <a:r>
              <a:rPr lang="en-US" sz="12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construction_project.db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endParaRPr lang="en-US" sz="1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D387BD-9555-E5EE-A458-C17BD5DA9D92}"/>
              </a:ext>
            </a:extLst>
          </p:cNvPr>
          <p:cNvSpPr txBox="1"/>
          <p:nvPr/>
        </p:nvSpPr>
        <p:spPr>
          <a:xfrm>
            <a:off x="696249" y="3114000"/>
            <a:ext cx="3136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3NF Normalization</a:t>
            </a:r>
            <a:endParaRPr lang="en-US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F1DAB9-0660-3DE5-15BD-30C131EDD2FC}"/>
              </a:ext>
            </a:extLst>
          </p:cNvPr>
          <p:cNvSpPr txBox="1"/>
          <p:nvPr/>
        </p:nvSpPr>
        <p:spPr>
          <a:xfrm>
            <a:off x="696249" y="3551409"/>
            <a:ext cx="50999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Eliminated duplicate client, vendor, and site logs across all tables.</a:t>
            </a:r>
            <a:endParaRPr lang="en-US" sz="1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4E7F8E-4A31-032D-1330-F09996F81F80}"/>
              </a:ext>
            </a:extLst>
          </p:cNvPr>
          <p:cNvSpPr txBox="1"/>
          <p:nvPr/>
        </p:nvSpPr>
        <p:spPr>
          <a:xfrm>
            <a:off x="696249" y="4061125"/>
            <a:ext cx="3136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Auditing</a:t>
            </a:r>
            <a:endParaRPr lang="en-US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5DCA97-69CC-8960-F4D1-481C23FB58EF}"/>
              </a:ext>
            </a:extLst>
          </p:cNvPr>
          <p:cNvSpPr txBox="1"/>
          <p:nvPr/>
        </p:nvSpPr>
        <p:spPr>
          <a:xfrm>
            <a:off x="716435" y="4540956"/>
            <a:ext cx="5099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Indexed key columns for instant SQL financial and quality auditing across 8 active civil sites.</a:t>
            </a:r>
            <a:endParaRPr lang="en-US" sz="1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106717E-E226-5E69-4C83-5B28CEC9AC05}"/>
              </a:ext>
            </a:extLst>
          </p:cNvPr>
          <p:cNvSpPr/>
          <p:nvPr/>
        </p:nvSpPr>
        <p:spPr>
          <a:xfrm>
            <a:off x="6570482" y="948929"/>
            <a:ext cx="5216166" cy="87356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2B9969-783A-EB0C-E63A-7873B2D2422B}"/>
              </a:ext>
            </a:extLst>
          </p:cNvPr>
          <p:cNvSpPr txBox="1"/>
          <p:nvPr/>
        </p:nvSpPr>
        <p:spPr>
          <a:xfrm>
            <a:off x="6911418" y="1159441"/>
            <a:ext cx="4534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 Normalized Tables</a:t>
            </a:r>
            <a:endParaRPr lang="en-US" sz="20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750AA8-470C-864A-514F-D39E282480F4}"/>
              </a:ext>
            </a:extLst>
          </p:cNvPr>
          <p:cNvSpPr/>
          <p:nvPr/>
        </p:nvSpPr>
        <p:spPr>
          <a:xfrm>
            <a:off x="6645897" y="1997646"/>
            <a:ext cx="5099902" cy="37429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05501B-8FFB-33AC-9D22-871E0F6B4C70}"/>
              </a:ext>
            </a:extLst>
          </p:cNvPr>
          <p:cNvSpPr txBox="1"/>
          <p:nvPr/>
        </p:nvSpPr>
        <p:spPr>
          <a:xfrm>
            <a:off x="6750258" y="2149258"/>
            <a:ext cx="497040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>
              <a:buFont typeface="+mj-lt"/>
              <a:buAutoNum type="arabicPeriod"/>
            </a:pPr>
            <a:r>
              <a:rPr lang="en-US" sz="1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Projects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Master site metadata, client names, structure types (WTG, Shed, Grouting).</a:t>
            </a:r>
          </a:p>
          <a:p>
            <a:pPr marL="228600" lvl="0" indent="-228600">
              <a:buFont typeface="+mj-lt"/>
              <a:buAutoNum type="arabicPeriod"/>
            </a:pPr>
            <a:endParaRPr lang="en-US" sz="12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Work_Orders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Master contract agreements &amp; approved budget ceilings.</a:t>
            </a:r>
          </a:p>
          <a:p>
            <a:pPr marL="228600" lvl="0" indent="-228600">
              <a:buFont typeface="+mj-lt"/>
              <a:buAutoNum type="arabicPeriod"/>
            </a:pPr>
            <a:endParaRPr lang="en-US" sz="12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Purchase_Orders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Subcontractor material orders &amp; vendor commitments.</a:t>
            </a:r>
          </a:p>
          <a:p>
            <a:pPr marL="228600" lvl="0" indent="-228600">
              <a:buFont typeface="+mj-lt"/>
              <a:buAutoNum type="arabicPeriod"/>
            </a:pPr>
            <a:endParaRPr lang="en-US" sz="12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Tax_Invoices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Client milestone billing, payment dates &amp; net payable amounts.</a:t>
            </a:r>
          </a:p>
          <a:p>
            <a:pPr marL="228600" lvl="0" indent="-228600">
              <a:buFont typeface="+mj-lt"/>
              <a:buAutoNum type="arabicPeriod"/>
            </a:pPr>
            <a:endParaRPr lang="en-US" sz="12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BOQ_Items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Bill of Quantities unit rates (steel, concrete, excavation, grouting).</a:t>
            </a:r>
          </a:p>
          <a:p>
            <a:pPr marL="228600" lvl="0" indent="-228600">
              <a:buFont typeface="+mj-lt"/>
              <a:buAutoNum type="arabicPeriod"/>
            </a:pPr>
            <a:endParaRPr lang="en-US" sz="12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Field_Quality_Logs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Concrete compressive strength &amp; Ultrasonic Pulse Velocity sound wave readings.</a:t>
            </a:r>
          </a:p>
          <a:p>
            <a:pPr marL="228600" lvl="0" indent="-228600">
              <a:buFont typeface="+mj-lt"/>
              <a:buAutoNum type="arabicPeriod"/>
            </a:pPr>
            <a:endParaRPr lang="en-US" sz="12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Damage_Reports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Site defect observations, crack length measurements &amp; 1–5 severity scores.</a:t>
            </a:r>
            <a:endParaRPr lang="en-US" sz="1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6206E1-93DE-BF3C-8C15-64778C022CAF}"/>
              </a:ext>
            </a:extLst>
          </p:cNvPr>
          <p:cNvSpPr txBox="1"/>
          <p:nvPr/>
        </p:nvSpPr>
        <p:spPr>
          <a:xfrm>
            <a:off x="6400800" y="6245037"/>
            <a:ext cx="8010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Repository: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https://github.com/Pallabi5200/Civil_Engineering_Data_Science_Project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67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DC2EA6B-A2EE-7A8A-EF99-98BC5FC55A2D}"/>
              </a:ext>
            </a:extLst>
          </p:cNvPr>
          <p:cNvSpPr/>
          <p:nvPr/>
        </p:nvSpPr>
        <p:spPr>
          <a:xfrm>
            <a:off x="6058449" y="1915307"/>
            <a:ext cx="5753648" cy="452681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20EE65-E11A-F845-7CDE-EAB33A0A78BF}"/>
              </a:ext>
            </a:extLst>
          </p:cNvPr>
          <p:cNvSpPr txBox="1"/>
          <p:nvPr/>
        </p:nvSpPr>
        <p:spPr>
          <a:xfrm>
            <a:off x="2709675" y="118024"/>
            <a:ext cx="78410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Scope &amp; Core Research Questions</a:t>
            </a:r>
          </a:p>
          <a:p>
            <a:endParaRPr lang="en-US" sz="32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8294816-05C7-BA50-9DE0-08620C2A135D}"/>
              </a:ext>
            </a:extLst>
          </p:cNvPr>
          <p:cNvSpPr/>
          <p:nvPr/>
        </p:nvSpPr>
        <p:spPr>
          <a:xfrm>
            <a:off x="744716" y="857839"/>
            <a:ext cx="4939645" cy="95210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5BB1B1-4B27-A46D-BCEF-69B49C331E15}"/>
              </a:ext>
            </a:extLst>
          </p:cNvPr>
          <p:cNvSpPr txBox="1"/>
          <p:nvPr/>
        </p:nvSpPr>
        <p:spPr>
          <a:xfrm>
            <a:off x="1316092" y="1102484"/>
            <a:ext cx="4534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Multi-Site Scope (8 Active Sites)</a:t>
            </a:r>
            <a:endParaRPr lang="en-US" sz="20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5A3890B-7E96-BF2B-0DCA-6A084A0FD230}"/>
              </a:ext>
            </a:extLst>
          </p:cNvPr>
          <p:cNvSpPr/>
          <p:nvPr/>
        </p:nvSpPr>
        <p:spPr>
          <a:xfrm>
            <a:off x="659874" y="2036961"/>
            <a:ext cx="5105668" cy="95210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DDA2D16-FD5F-BF76-D7AE-380D93F25ADD}"/>
              </a:ext>
            </a:extLst>
          </p:cNvPr>
          <p:cNvSpPr/>
          <p:nvPr/>
        </p:nvSpPr>
        <p:spPr>
          <a:xfrm>
            <a:off x="659874" y="3216083"/>
            <a:ext cx="5105668" cy="1101393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AF50A7-B2D2-9208-9421-539E8213DF72}"/>
              </a:ext>
            </a:extLst>
          </p:cNvPr>
          <p:cNvSpPr/>
          <p:nvPr/>
        </p:nvSpPr>
        <p:spPr>
          <a:xfrm>
            <a:off x="659874" y="4562357"/>
            <a:ext cx="5105668" cy="122077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0A0633-1CC1-2231-C8A6-40FA08619EB9}"/>
              </a:ext>
            </a:extLst>
          </p:cNvPr>
          <p:cNvSpPr txBox="1"/>
          <p:nvPr/>
        </p:nvSpPr>
        <p:spPr>
          <a:xfrm>
            <a:off x="1808611" y="2049820"/>
            <a:ext cx="3136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WTG Foundations (5 Sites)</a:t>
            </a:r>
            <a:endParaRPr lang="en-US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E3DE70-7959-661C-3103-2B0C5DDF23CA}"/>
              </a:ext>
            </a:extLst>
          </p:cNvPr>
          <p:cNvSpPr txBox="1"/>
          <p:nvPr/>
        </p:nvSpPr>
        <p:spPr>
          <a:xfrm>
            <a:off x="758295" y="2344313"/>
            <a:ext cx="492606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GAL06, GAL07, GAL33, GAL34, GAL35 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(Foundation retrofitting &amp; anchor bolt pours).</a:t>
            </a:r>
          </a:p>
          <a:p>
            <a:endParaRPr lang="en-US" sz="1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652938-C656-B505-6526-5D86B8EEA992}"/>
              </a:ext>
            </a:extLst>
          </p:cNvPr>
          <p:cNvSpPr txBox="1"/>
          <p:nvPr/>
        </p:nvSpPr>
        <p:spPr>
          <a:xfrm>
            <a:off x="2015042" y="3208951"/>
            <a:ext cx="3136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Epoxy Grouting (1 Site)</a:t>
            </a:r>
            <a:endParaRPr lang="en-US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ABBAFB-E2AB-877A-629B-5DE7FDC088C8}"/>
              </a:ext>
            </a:extLst>
          </p:cNvPr>
          <p:cNvSpPr txBox="1"/>
          <p:nvPr/>
        </p:nvSpPr>
        <p:spPr>
          <a:xfrm>
            <a:off x="1316092" y="3686269"/>
            <a:ext cx="492606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i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Molagavali</a:t>
            </a:r>
            <a:r>
              <a:rPr lang="en-US" sz="1200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(High-precision epoxy grouting repair).</a:t>
            </a:r>
          </a:p>
          <a:p>
            <a:endParaRPr lang="en-US" sz="1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B1B694-EC7E-906A-E25B-F130FE2E7740}"/>
              </a:ext>
            </a:extLst>
          </p:cNvPr>
          <p:cNvSpPr txBox="1"/>
          <p:nvPr/>
        </p:nvSpPr>
        <p:spPr>
          <a:xfrm>
            <a:off x="2015042" y="4602471"/>
            <a:ext cx="3136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Industrial Sheds (3 Sites)</a:t>
            </a:r>
            <a:endParaRPr lang="en-US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A29D47-AF3B-AD35-7D98-5674AC5280F0}"/>
              </a:ext>
            </a:extLst>
          </p:cNvPr>
          <p:cNvSpPr txBox="1"/>
          <p:nvPr/>
        </p:nvSpPr>
        <p:spPr>
          <a:xfrm>
            <a:off x="924319" y="5109327"/>
            <a:ext cx="492606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Patan, </a:t>
            </a:r>
            <a:r>
              <a:rPr lang="en-US" sz="1200" b="1" i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Jaglur</a:t>
            </a:r>
            <a:r>
              <a:rPr lang="en-US" sz="1200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Otha Phase 3 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(Structural steel framing &amp; heavy slab pours).</a:t>
            </a:r>
          </a:p>
          <a:p>
            <a:endParaRPr lang="en-US" sz="1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342685A-2B9A-90AC-745E-D1512FB50A4C}"/>
              </a:ext>
            </a:extLst>
          </p:cNvPr>
          <p:cNvSpPr/>
          <p:nvPr/>
        </p:nvSpPr>
        <p:spPr>
          <a:xfrm>
            <a:off x="6242158" y="826485"/>
            <a:ext cx="4939645" cy="952107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B09B75-EBEA-0239-EFC8-D6539A90AF3D}"/>
              </a:ext>
            </a:extLst>
          </p:cNvPr>
          <p:cNvSpPr txBox="1"/>
          <p:nvPr/>
        </p:nvSpPr>
        <p:spPr>
          <a:xfrm>
            <a:off x="6820832" y="1052112"/>
            <a:ext cx="4534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Core Research Questions </a:t>
            </a:r>
            <a:endParaRPr lang="en-US" sz="20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8AD068-4598-9BE8-3D89-E24E94F90F4C}"/>
              </a:ext>
            </a:extLst>
          </p:cNvPr>
          <p:cNvSpPr txBox="1"/>
          <p:nvPr/>
        </p:nvSpPr>
        <p:spPr>
          <a:xfrm>
            <a:off x="6139630" y="1946445"/>
            <a:ext cx="3136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Progressive Cash Flow</a:t>
            </a:r>
            <a:endParaRPr lang="en-US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0008D2-9DE2-D1E5-982E-51141B434C69}"/>
              </a:ext>
            </a:extLst>
          </p:cNvPr>
          <p:cNvSpPr txBox="1"/>
          <p:nvPr/>
        </p:nvSpPr>
        <p:spPr>
          <a:xfrm>
            <a:off x="6052371" y="2234339"/>
            <a:ext cx="57597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track cumulative milestone billing chronologically per site without losing individual invoice details?</a:t>
            </a:r>
          </a:p>
          <a:p>
            <a:pPr lvl="0"/>
            <a:r>
              <a:rPr lang="en-US" dirty="0"/>
              <a:t> 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 SUM() OVER Window Function</a:t>
            </a:r>
            <a:endParaRPr lang="en-US" sz="12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080994-94A5-0EE1-B6E7-146750D26698}"/>
              </a:ext>
            </a:extLst>
          </p:cNvPr>
          <p:cNvSpPr txBox="1"/>
          <p:nvPr/>
        </p:nvSpPr>
        <p:spPr>
          <a:xfrm>
            <a:off x="6096000" y="3078147"/>
            <a:ext cx="3136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Vendor Overrun Control</a:t>
            </a:r>
            <a:endParaRPr lang="en-US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DADD86-349F-19EE-8215-79F0C10D4A15}"/>
              </a:ext>
            </a:extLst>
          </p:cNvPr>
          <p:cNvSpPr txBox="1"/>
          <p:nvPr/>
        </p:nvSpPr>
        <p:spPr>
          <a:xfrm>
            <a:off x="6096000" y="3424658"/>
            <a:ext cx="5716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audit subcontractor purchase order commitments against client budget ceilings early?</a:t>
            </a:r>
          </a:p>
          <a:p>
            <a:pPr lvl="0"/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CTE &amp; 80% Overrun Risk Flag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106C45-71D2-392F-430D-CF4A666B3BB9}"/>
              </a:ext>
            </a:extLst>
          </p:cNvPr>
          <p:cNvSpPr txBox="1"/>
          <p:nvPr/>
        </p:nvSpPr>
        <p:spPr>
          <a:xfrm>
            <a:off x="6052371" y="4139371"/>
            <a:ext cx="3136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 Control &amp; NDT Testing</a:t>
            </a:r>
            <a:endParaRPr lang="en-US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918A7F-B550-5395-3DC6-CD3B52AE6700}"/>
              </a:ext>
            </a:extLst>
          </p:cNvPr>
          <p:cNvSpPr txBox="1"/>
          <p:nvPr/>
        </p:nvSpPr>
        <p:spPr>
          <a:xfrm>
            <a:off x="6114830" y="4490288"/>
            <a:ext cx="5759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can early Ultrasonic Pulse Velocity (UPV) sound wave speed forecast 28-day concrete strength?</a:t>
            </a:r>
          </a:p>
          <a:p>
            <a:pPr lvl="0"/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 ML Model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29A8DE-0FE4-7786-0952-0A93DF32ACFD}"/>
              </a:ext>
            </a:extLst>
          </p:cNvPr>
          <p:cNvSpPr txBox="1"/>
          <p:nvPr/>
        </p:nvSpPr>
        <p:spPr>
          <a:xfrm>
            <a:off x="6139630" y="5201556"/>
            <a:ext cx="3136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Site Defect Triage</a:t>
            </a:r>
            <a:endParaRPr lang="en-US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306328-FC15-4D04-2772-7D2CF5B6AD49}"/>
              </a:ext>
            </a:extLst>
          </p:cNvPr>
          <p:cNvSpPr txBox="1"/>
          <p:nvPr/>
        </p:nvSpPr>
        <p:spPr>
          <a:xfrm>
            <a:off x="6114830" y="5562211"/>
            <a:ext cx="5759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automatically classify physical site damage inspection logs into standardized 1–5 severity ratings?</a:t>
            </a:r>
          </a:p>
          <a:p>
            <a:pPr lvl="0"/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Multi-Class ML Classifier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0A9A14-C98A-52B4-39DB-509E935E75B3}"/>
              </a:ext>
            </a:extLst>
          </p:cNvPr>
          <p:cNvSpPr txBox="1"/>
          <p:nvPr/>
        </p:nvSpPr>
        <p:spPr>
          <a:xfrm>
            <a:off x="0" y="6244179"/>
            <a:ext cx="8010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Repository: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https://github.com/Pallabi5200/Civil_Engineering_Data_Science_Project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446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D90151-9421-F26E-2869-6BACAA489B6B}"/>
              </a:ext>
            </a:extLst>
          </p:cNvPr>
          <p:cNvSpPr txBox="1"/>
          <p:nvPr/>
        </p:nvSpPr>
        <p:spPr>
          <a:xfrm>
            <a:off x="1362456" y="172888"/>
            <a:ext cx="102412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Commercial Engine: Progressive Billing &amp; Cash Flow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66FF14-5D33-EA9D-4D03-10E019B1B047}"/>
              </a:ext>
            </a:extLst>
          </p:cNvPr>
          <p:cNvSpPr/>
          <p:nvPr/>
        </p:nvSpPr>
        <p:spPr>
          <a:xfrm>
            <a:off x="448056" y="987552"/>
            <a:ext cx="6126480" cy="2368296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960EC98-B64F-6A08-6848-BEB318E3B572}"/>
              </a:ext>
            </a:extLst>
          </p:cNvPr>
          <p:cNvSpPr/>
          <p:nvPr/>
        </p:nvSpPr>
        <p:spPr>
          <a:xfrm>
            <a:off x="448056" y="3585737"/>
            <a:ext cx="6126480" cy="2284711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224E55-9440-EA1F-2E54-B5C91BB5E0F9}"/>
              </a:ext>
            </a:extLst>
          </p:cNvPr>
          <p:cNvSpPr txBox="1"/>
          <p:nvPr/>
        </p:nvSpPr>
        <p:spPr>
          <a:xfrm>
            <a:off x="775338" y="1162852"/>
            <a:ext cx="5095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Progressive Cash Flow (SUM() OVER)</a:t>
            </a:r>
            <a:endParaRPr lang="en-US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99371D-B6CD-D729-3CBE-F156F8B8C4FD}"/>
              </a:ext>
            </a:extLst>
          </p:cNvPr>
          <p:cNvSpPr txBox="1"/>
          <p:nvPr/>
        </p:nvSpPr>
        <p:spPr>
          <a:xfrm>
            <a:off x="775338" y="1569976"/>
            <a:ext cx="50999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>
              <a:buFont typeface="+mj-lt"/>
              <a:buAutoNum type="arabicPeriod"/>
            </a:pP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a running balance window function (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SUM(</a:t>
            </a:r>
            <a:r>
              <a:rPr lang="en-US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net_payable_amount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OVER (PARTITION BY </a:t>
            </a:r>
            <a:r>
              <a:rPr lang="en-US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project_id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ORDER BY </a:t>
            </a:r>
            <a:r>
              <a:rPr lang="en-US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invoice_date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)).</a:t>
            </a:r>
          </a:p>
          <a:p>
            <a:pPr marL="228600" lvl="0" indent="-228600">
              <a:buFont typeface="+mj-lt"/>
              <a:buAutoNum type="arabicPeriod"/>
            </a:pPr>
            <a:endParaRPr lang="en-US" sz="12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Tracks cumulative milestone billing chronologically per site without dropping individual invoice details.</a:t>
            </a:r>
          </a:p>
          <a:p>
            <a:pPr marL="228600" lvl="0" indent="-228600">
              <a:buFont typeface="+mj-lt"/>
              <a:buAutoNum type="arabicPeriod"/>
            </a:pPr>
            <a:endParaRPr lang="en-US" sz="12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Site Finding: At </a:t>
            </a:r>
            <a:r>
              <a:rPr lang="en-US" sz="1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GAL33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(WTG Foundation), cumulative billing grew from ₹4.55 Lakhs in Feb 2026 to ₹13.65 Lakhs by late March 2026.</a:t>
            </a:r>
            <a:endParaRPr lang="en-US" sz="1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9AB4D3-7D44-288E-FBB5-79C66DD3EE87}"/>
              </a:ext>
            </a:extLst>
          </p:cNvPr>
          <p:cNvSpPr txBox="1"/>
          <p:nvPr/>
        </p:nvSpPr>
        <p:spPr>
          <a:xfrm>
            <a:off x="775338" y="3832057"/>
            <a:ext cx="5095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BOQ Cost Share Ranking (DENSE_RANK())</a:t>
            </a:r>
            <a:endParaRPr lang="en-US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3C0683-D4F8-E756-CAB2-90375876FE11}"/>
              </a:ext>
            </a:extLst>
          </p:cNvPr>
          <p:cNvSpPr txBox="1"/>
          <p:nvPr/>
        </p:nvSpPr>
        <p:spPr>
          <a:xfrm>
            <a:off x="653796" y="4244520"/>
            <a:ext cx="55869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>
              <a:buFont typeface="+mj-lt"/>
              <a:buAutoNum type="arabicPeriod"/>
            </a:pP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Ranked line-item expenses to identify top cost drivers across sites.</a:t>
            </a:r>
          </a:p>
          <a:p>
            <a:pPr marL="228600" lvl="0" indent="-228600">
              <a:buFont typeface="+mj-lt"/>
              <a:buAutoNum type="arabicPeriod"/>
            </a:pPr>
            <a:endParaRPr lang="en-US" sz="12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Storage Sheds: Structural steel fabrication dominates budgets (42.53% at Patan).</a:t>
            </a:r>
          </a:p>
          <a:p>
            <a:pPr marL="228600" lvl="0" indent="-228600">
              <a:buFont typeface="+mj-lt"/>
              <a:buAutoNum type="arabicPeriod"/>
            </a:pPr>
            <a:endParaRPr lang="en-US" sz="12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 Foundations: Specialized epoxy grout dominates budgets (30.42% at GAL33).</a:t>
            </a:r>
            <a:endParaRPr lang="en-US" sz="1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 descr="Statistical Chart Line Blue Two Color Icon 44144380 Vector Art at Vecteezy">
            <a:extLst>
              <a:ext uri="{FF2B5EF4-FFF2-40B4-BE49-F238E27FC236}">
                <a16:creationId xmlns:a16="http://schemas.microsoft.com/office/drawing/2014/main" id="{59748FDB-1D15-1974-B121-E56536784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342" y="1213613"/>
            <a:ext cx="4349393" cy="44307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174AD91-B0FB-815B-D82D-DA357DEF4B4D}"/>
              </a:ext>
            </a:extLst>
          </p:cNvPr>
          <p:cNvSpPr txBox="1"/>
          <p:nvPr/>
        </p:nvSpPr>
        <p:spPr>
          <a:xfrm>
            <a:off x="6693408" y="6161892"/>
            <a:ext cx="8010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Repository: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https://github.com/Pallabi5200/Civil_Engineering_Data_Science_Project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722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E8D319-AF6A-175F-721C-AF1A00E3EFEA}"/>
              </a:ext>
            </a:extLst>
          </p:cNvPr>
          <p:cNvSpPr txBox="1"/>
          <p:nvPr/>
        </p:nvSpPr>
        <p:spPr>
          <a:xfrm>
            <a:off x="810706" y="276582"/>
            <a:ext cx="111707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Commercial Engine: Vendor Overrun Risk &amp; Quality Audits</a:t>
            </a:r>
          </a:p>
          <a:p>
            <a:endParaRPr lang="en-US" sz="32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2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17471F-894E-FD1F-8FBA-ED45AC9D46BF}"/>
              </a:ext>
            </a:extLst>
          </p:cNvPr>
          <p:cNvSpPr/>
          <p:nvPr/>
        </p:nvSpPr>
        <p:spPr>
          <a:xfrm>
            <a:off x="448056" y="987552"/>
            <a:ext cx="6126480" cy="2368296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5DC7BE-67D7-3131-205B-7D78901ADFBD}"/>
              </a:ext>
            </a:extLst>
          </p:cNvPr>
          <p:cNvSpPr/>
          <p:nvPr/>
        </p:nvSpPr>
        <p:spPr>
          <a:xfrm>
            <a:off x="448056" y="3585737"/>
            <a:ext cx="6126480" cy="2284711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3CC9B4-3755-3883-34B2-DFFD98DF5EE2}"/>
              </a:ext>
            </a:extLst>
          </p:cNvPr>
          <p:cNvSpPr txBox="1"/>
          <p:nvPr/>
        </p:nvSpPr>
        <p:spPr>
          <a:xfrm>
            <a:off x="775338" y="1162852"/>
            <a:ext cx="5095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Subcontractor Overrun Risk CTE (WITH ... AS)</a:t>
            </a:r>
            <a:endParaRPr lang="en-US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30D507-A647-AE7F-42A2-DD875A91A757}"/>
              </a:ext>
            </a:extLst>
          </p:cNvPr>
          <p:cNvSpPr txBox="1"/>
          <p:nvPr/>
        </p:nvSpPr>
        <p:spPr>
          <a:xfrm>
            <a:off x="717804" y="1587773"/>
            <a:ext cx="55869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>
              <a:buFont typeface="+mj-lt"/>
              <a:buAutoNum type="arabicPeriod"/>
            </a:pP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 Common Table Expression to calculate </a:t>
            </a:r>
            <a:r>
              <a:rPr lang="en-US" sz="1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(Total PO Value / Work Order Ceiling) * 100.</a:t>
            </a:r>
          </a:p>
          <a:p>
            <a:pPr marL="228600" lvl="0" indent="-228600">
              <a:buFont typeface="+mj-lt"/>
              <a:buAutoNum type="arabicPeriod"/>
            </a:pPr>
            <a:endParaRPr lang="en-US" sz="12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</a:t>
            </a:r>
            <a:r>
              <a:rPr lang="en-US" sz="1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 WHEN 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trigger a </a:t>
            </a:r>
            <a:r>
              <a:rPr lang="en-US" sz="1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RISK (&gt;80%) 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warning whenever subcontractor orders approach budget limits.</a:t>
            </a:r>
          </a:p>
          <a:p>
            <a:pPr marL="228600" lvl="0" indent="-228600">
              <a:buFont typeface="+mj-lt"/>
              <a:buAutoNum type="arabicPeriod"/>
            </a:pPr>
            <a:endParaRPr lang="en-US" sz="12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ROI: Protects contracting profit margins by stopping unbudgeted cost overruns early.</a:t>
            </a:r>
            <a:endParaRPr lang="en-US" sz="1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64ECC1-FB43-3056-6889-FE23A7A3BC64}"/>
              </a:ext>
            </a:extLst>
          </p:cNvPr>
          <p:cNvSpPr txBox="1"/>
          <p:nvPr/>
        </p:nvSpPr>
        <p:spPr>
          <a:xfrm>
            <a:off x="717804" y="3757654"/>
            <a:ext cx="5095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Single-Pass Quality Audits (CASE WHEN)</a:t>
            </a:r>
            <a:endParaRPr lang="en-US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F1E240-C883-F8C6-78C7-2ABA68BEEBDB}"/>
              </a:ext>
            </a:extLst>
          </p:cNvPr>
          <p:cNvSpPr txBox="1"/>
          <p:nvPr/>
        </p:nvSpPr>
        <p:spPr>
          <a:xfrm>
            <a:off x="717804" y="4096208"/>
            <a:ext cx="5586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</a:t>
            </a:r>
            <a:endParaRPr lang="en-US" sz="1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277166"/>
      </p:ext>
    </p:extLst>
  </p:cSld>
  <p:clrMapOvr>
    <a:masterClrMapping/>
  </p:clrMapOvr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FC7F6458-703E-4B19-BAF9-E88A9B02521B}" vid="{6FBA4037-BA28-4926-BD89-6C5403440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228</TotalTime>
  <Words>922</Words>
  <Application>Microsoft Office PowerPoint</Application>
  <PresentationFormat>Widescreen</PresentationFormat>
  <Paragraphs>102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 Light</vt:lpstr>
      <vt:lpstr>Arial</vt:lpstr>
      <vt:lpstr>Calibri</vt:lpstr>
      <vt:lpstr>Walbaum Display</vt:lpstr>
      <vt:lpstr>Shoji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Vijaykumar Bhattacharji</dc:creator>
  <cp:lastModifiedBy>Vijaykumar Bhattacharji</cp:lastModifiedBy>
  <cp:revision>18</cp:revision>
  <dcterms:created xsi:type="dcterms:W3CDTF">2026-07-30T05:08:02Z</dcterms:created>
  <dcterms:modified xsi:type="dcterms:W3CDTF">2026-07-30T11:47:29Z</dcterms:modified>
</cp:coreProperties>
</file>